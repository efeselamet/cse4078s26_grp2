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Playfair Display" panose="020B0604020202020204" charset="0"/>
      <p:regular r:id="rId10"/>
    </p:embeddedFont>
    <p:embeddedFont>
      <p:font typeface="Public Sans" panose="020B0604020202020204" charset="0"/>
      <p:regular r:id="rId11"/>
    </p:embeddedFont>
    <p:embeddedFont>
      <p:font typeface="Playfair Display Bold" panose="020B0604020202020204" charset="0"/>
      <p:regular r:id="rId12"/>
    </p:embeddedFont>
    <p:embeddedFont>
      <p:font typeface="Calibri" panose="020F0502020204030204" pitchFamily="34" charset="0"/>
      <p:regular r:id="rId13"/>
      <p:bold r:id="rId14"/>
      <p:italic r:id="rId15"/>
      <p:boldItalic r:id="rId16"/>
    </p:embeddedFont>
    <p:embeddedFont>
      <p:font typeface="Public San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73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AutoShape 2"/>
          <p:cNvSpPr/>
          <p:nvPr/>
        </p:nvSpPr>
        <p:spPr>
          <a:xfrm flipV="1">
            <a:off x="1028706" y="4514765"/>
            <a:ext cx="16230594" cy="38509"/>
          </a:xfrm>
          <a:prstGeom prst="line">
            <a:avLst/>
          </a:prstGeom>
          <a:ln w="9525" cap="flat">
            <a:solidFill>
              <a:srgbClr val="2B2C30"/>
            </a:solidFill>
            <a:prstDash val="solid"/>
            <a:headEnd type="none" w="sm" len="sm"/>
            <a:tailEnd type="none" w="sm" len="sm"/>
          </a:ln>
        </p:spPr>
      </p:sp>
      <p:sp>
        <p:nvSpPr>
          <p:cNvPr id="3" name="TextBox 3"/>
          <p:cNvSpPr txBox="1"/>
          <p:nvPr/>
        </p:nvSpPr>
        <p:spPr>
          <a:xfrm>
            <a:off x="1006882" y="4728792"/>
            <a:ext cx="16230600" cy="651099"/>
          </a:xfrm>
          <a:prstGeom prst="rect">
            <a:avLst/>
          </a:prstGeom>
        </p:spPr>
        <p:txBody>
          <a:bodyPr lIns="0" tIns="0" rIns="0" bIns="0" rtlCol="0" anchor="t">
            <a:spAutoFit/>
          </a:bodyPr>
          <a:lstStyle/>
          <a:p>
            <a:pPr algn="l">
              <a:lnSpc>
                <a:spcPts val="5200"/>
              </a:lnSpc>
              <a:spcBef>
                <a:spcPct val="0"/>
              </a:spcBef>
            </a:pPr>
            <a:r>
              <a:rPr lang="en-US" sz="3714" b="1" spc="843">
                <a:solidFill>
                  <a:srgbClr val="2B2C30"/>
                </a:solidFill>
                <a:latin typeface="Public Sans Bold"/>
                <a:ea typeface="Public Sans Bold"/>
                <a:cs typeface="Public Sans Bold"/>
                <a:sym typeface="Public Sans Bold"/>
              </a:rPr>
              <a:t>PROJECT PROGRESS PRESANTATION</a:t>
            </a:r>
          </a:p>
        </p:txBody>
      </p:sp>
      <p:sp>
        <p:nvSpPr>
          <p:cNvPr id="4" name="TextBox 4"/>
          <p:cNvSpPr txBox="1"/>
          <p:nvPr/>
        </p:nvSpPr>
        <p:spPr>
          <a:xfrm>
            <a:off x="850974" y="2332416"/>
            <a:ext cx="16408332" cy="2084083"/>
          </a:xfrm>
          <a:prstGeom prst="rect">
            <a:avLst/>
          </a:prstGeom>
        </p:spPr>
        <p:txBody>
          <a:bodyPr lIns="0" tIns="0" rIns="0" bIns="0" rtlCol="0" anchor="t">
            <a:spAutoFit/>
          </a:bodyPr>
          <a:lstStyle/>
          <a:p>
            <a:pPr algn="l">
              <a:lnSpc>
                <a:spcPts val="15250"/>
              </a:lnSpc>
            </a:pPr>
            <a:r>
              <a:rPr lang="en-US" sz="16758" spc="83">
                <a:solidFill>
                  <a:srgbClr val="2B2C30"/>
                </a:solidFill>
                <a:latin typeface="Playfair Display"/>
                <a:ea typeface="Playfair Display"/>
                <a:cs typeface="Playfair Display"/>
                <a:sym typeface="Playfair Display"/>
              </a:rPr>
              <a:t>Group 2</a:t>
            </a:r>
          </a:p>
        </p:txBody>
      </p:sp>
      <p:sp>
        <p:nvSpPr>
          <p:cNvPr id="5" name="TextBox 5"/>
          <p:cNvSpPr txBox="1"/>
          <p:nvPr/>
        </p:nvSpPr>
        <p:spPr>
          <a:xfrm>
            <a:off x="1016407" y="6726555"/>
            <a:ext cx="3392558" cy="2617470"/>
          </a:xfrm>
          <a:prstGeom prst="rect">
            <a:avLst/>
          </a:prstGeom>
        </p:spPr>
        <p:txBody>
          <a:bodyPr lIns="0" tIns="0" rIns="0" bIns="0" rtlCol="0" anchor="t">
            <a:spAutoFit/>
          </a:bodyPr>
          <a:lstStyle/>
          <a:p>
            <a:pPr algn="l">
              <a:lnSpc>
                <a:spcPts val="3450"/>
              </a:lnSpc>
            </a:pPr>
            <a:r>
              <a:rPr lang="en-US" sz="2300">
                <a:solidFill>
                  <a:srgbClr val="2B2C30"/>
                </a:solidFill>
                <a:latin typeface="Public Sans"/>
                <a:ea typeface="Public Sans"/>
                <a:cs typeface="Public Sans"/>
                <a:sym typeface="Public Sans"/>
              </a:rPr>
              <a:t>Mehmet Efe Selamet</a:t>
            </a:r>
          </a:p>
          <a:p>
            <a:pPr algn="l">
              <a:lnSpc>
                <a:spcPts val="3450"/>
              </a:lnSpc>
            </a:pPr>
            <a:r>
              <a:rPr lang="en-US" sz="2300">
                <a:solidFill>
                  <a:srgbClr val="2B2C30"/>
                </a:solidFill>
                <a:latin typeface="Public Sans"/>
                <a:ea typeface="Public Sans"/>
                <a:cs typeface="Public Sans"/>
                <a:sym typeface="Public Sans"/>
              </a:rPr>
              <a:t>Barış Korkmaz </a:t>
            </a:r>
          </a:p>
          <a:p>
            <a:pPr algn="l">
              <a:lnSpc>
                <a:spcPts val="3450"/>
              </a:lnSpc>
            </a:pPr>
            <a:r>
              <a:rPr lang="en-US" sz="2300">
                <a:solidFill>
                  <a:srgbClr val="2B2C30"/>
                </a:solidFill>
                <a:latin typeface="Public Sans"/>
                <a:ea typeface="Public Sans"/>
                <a:cs typeface="Public Sans"/>
                <a:sym typeface="Public Sans"/>
              </a:rPr>
              <a:t>Aşkın Yavuz Tuna</a:t>
            </a:r>
          </a:p>
          <a:p>
            <a:pPr algn="l">
              <a:lnSpc>
                <a:spcPts val="3450"/>
              </a:lnSpc>
            </a:pPr>
            <a:r>
              <a:rPr lang="en-US" sz="2300">
                <a:solidFill>
                  <a:srgbClr val="2B2C30"/>
                </a:solidFill>
                <a:latin typeface="Public Sans"/>
                <a:ea typeface="Public Sans"/>
                <a:cs typeface="Public Sans"/>
                <a:sym typeface="Public Sans"/>
              </a:rPr>
              <a:t>Cihat Emre Vardiş</a:t>
            </a:r>
          </a:p>
          <a:p>
            <a:pPr algn="l">
              <a:lnSpc>
                <a:spcPts val="3450"/>
              </a:lnSpc>
            </a:pPr>
            <a:r>
              <a:rPr lang="en-US" sz="2300">
                <a:solidFill>
                  <a:srgbClr val="2B2C30"/>
                </a:solidFill>
                <a:latin typeface="Public Sans"/>
                <a:ea typeface="Public Sans"/>
                <a:cs typeface="Public Sans"/>
                <a:sym typeface="Public Sans"/>
              </a:rPr>
              <a:t>Yusuf Samet Pek</a:t>
            </a:r>
          </a:p>
          <a:p>
            <a:pPr algn="l">
              <a:lnSpc>
                <a:spcPts val="3450"/>
              </a:lnSpc>
            </a:pPr>
            <a:endParaRPr lang="en-US" sz="2300">
              <a:solidFill>
                <a:srgbClr val="2B2C30"/>
              </a:solidFill>
              <a:latin typeface="Public Sans"/>
              <a:ea typeface="Public Sans"/>
              <a:cs typeface="Public Sans"/>
              <a:sym typeface="Public Sans"/>
            </a:endParaRPr>
          </a:p>
        </p:txBody>
      </p:sp>
      <p:sp>
        <p:nvSpPr>
          <p:cNvPr id="6" name="TextBox 6"/>
          <p:cNvSpPr txBox="1"/>
          <p:nvPr/>
        </p:nvSpPr>
        <p:spPr>
          <a:xfrm>
            <a:off x="4408966" y="6726555"/>
            <a:ext cx="3392558" cy="2179320"/>
          </a:xfrm>
          <a:prstGeom prst="rect">
            <a:avLst/>
          </a:prstGeom>
        </p:spPr>
        <p:txBody>
          <a:bodyPr lIns="0" tIns="0" rIns="0" bIns="0" rtlCol="0" anchor="t">
            <a:spAutoFit/>
          </a:bodyPr>
          <a:lstStyle/>
          <a:p>
            <a:pPr algn="l">
              <a:lnSpc>
                <a:spcPts val="3450"/>
              </a:lnSpc>
            </a:pPr>
            <a:r>
              <a:rPr lang="en-US" sz="2300">
                <a:solidFill>
                  <a:srgbClr val="2B2C30"/>
                </a:solidFill>
                <a:latin typeface="Public Sans"/>
                <a:ea typeface="Public Sans"/>
                <a:cs typeface="Public Sans"/>
                <a:sym typeface="Public Sans"/>
              </a:rPr>
              <a:t>150122058</a:t>
            </a:r>
          </a:p>
          <a:p>
            <a:pPr algn="l">
              <a:lnSpc>
                <a:spcPts val="3450"/>
              </a:lnSpc>
            </a:pPr>
            <a:r>
              <a:rPr lang="en-US" sz="2300">
                <a:solidFill>
                  <a:srgbClr val="2B2C30"/>
                </a:solidFill>
                <a:latin typeface="Public Sans"/>
                <a:ea typeface="Public Sans"/>
                <a:cs typeface="Public Sans"/>
                <a:sym typeface="Public Sans"/>
              </a:rPr>
              <a:t>150122016</a:t>
            </a:r>
          </a:p>
          <a:p>
            <a:pPr algn="l">
              <a:lnSpc>
                <a:spcPts val="3450"/>
              </a:lnSpc>
            </a:pPr>
            <a:r>
              <a:rPr lang="en-US" sz="2300">
                <a:solidFill>
                  <a:srgbClr val="2B2C30"/>
                </a:solidFill>
                <a:latin typeface="Public Sans"/>
                <a:ea typeface="Public Sans"/>
                <a:cs typeface="Public Sans"/>
                <a:sym typeface="Public Sans"/>
              </a:rPr>
              <a:t>150121016</a:t>
            </a:r>
          </a:p>
          <a:p>
            <a:pPr algn="l">
              <a:lnSpc>
                <a:spcPts val="3450"/>
              </a:lnSpc>
            </a:pPr>
            <a:r>
              <a:rPr lang="en-US" sz="2300">
                <a:solidFill>
                  <a:srgbClr val="2B2C30"/>
                </a:solidFill>
                <a:latin typeface="Public Sans"/>
                <a:ea typeface="Public Sans"/>
                <a:cs typeface="Public Sans"/>
                <a:sym typeface="Public Sans"/>
              </a:rPr>
              <a:t>150121037</a:t>
            </a:r>
          </a:p>
          <a:p>
            <a:pPr algn="l">
              <a:lnSpc>
                <a:spcPts val="3450"/>
              </a:lnSpc>
            </a:pPr>
            <a:r>
              <a:rPr lang="en-US" sz="2300">
                <a:solidFill>
                  <a:srgbClr val="2B2C30"/>
                </a:solidFill>
                <a:latin typeface="Public Sans"/>
                <a:ea typeface="Public Sans"/>
                <a:cs typeface="Public Sans"/>
                <a:sym typeface="Public Sans"/>
              </a:rPr>
              <a:t>150122063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TextBox 2"/>
          <p:cNvSpPr txBox="1"/>
          <p:nvPr/>
        </p:nvSpPr>
        <p:spPr>
          <a:xfrm>
            <a:off x="1028700" y="971550"/>
            <a:ext cx="14300367" cy="1013098"/>
          </a:xfrm>
          <a:prstGeom prst="rect">
            <a:avLst/>
          </a:prstGeom>
        </p:spPr>
        <p:txBody>
          <a:bodyPr lIns="0" tIns="0" rIns="0" bIns="0" rtlCol="0" anchor="t">
            <a:spAutoFit/>
          </a:bodyPr>
          <a:lstStyle/>
          <a:p>
            <a:pPr algn="l">
              <a:lnSpc>
                <a:spcPts val="7865"/>
              </a:lnSpc>
            </a:pPr>
            <a:r>
              <a:rPr lang="en-US" sz="6050" spc="30" dirty="0">
                <a:solidFill>
                  <a:srgbClr val="2B2C30"/>
                </a:solidFill>
                <a:latin typeface="Playfair Display"/>
                <a:ea typeface="Playfair Display"/>
                <a:cs typeface="Playfair Display"/>
                <a:sym typeface="Playfair Display"/>
              </a:rPr>
              <a:t>Selected Model: </a:t>
            </a:r>
            <a:r>
              <a:rPr lang="en-US" sz="6050" spc="30" dirty="0" smtClean="0">
                <a:solidFill>
                  <a:srgbClr val="2B2C30"/>
                </a:solidFill>
                <a:latin typeface="Playfair Display"/>
                <a:ea typeface="Playfair Display"/>
                <a:cs typeface="Playfair Display"/>
                <a:sym typeface="Playfair Display"/>
              </a:rPr>
              <a:t>Qwen-2.5-1</a:t>
            </a:r>
            <a:r>
              <a:rPr lang="tr-TR" sz="6050" spc="30" smtClean="0">
                <a:solidFill>
                  <a:srgbClr val="2B2C30"/>
                </a:solidFill>
                <a:latin typeface="Playfair Display"/>
                <a:ea typeface="Playfair Display"/>
                <a:cs typeface="Playfair Display"/>
                <a:sym typeface="Playfair Display"/>
              </a:rPr>
              <a:t>.</a:t>
            </a:r>
            <a:r>
              <a:rPr lang="en-US" sz="6050" spc="30" smtClean="0">
                <a:solidFill>
                  <a:srgbClr val="2B2C30"/>
                </a:solidFill>
                <a:latin typeface="Playfair Display"/>
                <a:ea typeface="Playfair Display"/>
                <a:cs typeface="Playfair Display"/>
                <a:sym typeface="Playfair Display"/>
              </a:rPr>
              <a:t>5B </a:t>
            </a:r>
            <a:r>
              <a:rPr lang="en-US" sz="6050" spc="30">
                <a:solidFill>
                  <a:srgbClr val="2B2C30"/>
                </a:solidFill>
                <a:latin typeface="Playfair Display"/>
                <a:ea typeface="Playfair Display"/>
                <a:cs typeface="Playfair Display"/>
                <a:sym typeface="Playfair Display"/>
              </a:rPr>
              <a:t>Instruct</a:t>
            </a:r>
          </a:p>
        </p:txBody>
      </p:sp>
      <p:sp>
        <p:nvSpPr>
          <p:cNvPr id="3" name="TextBox 3"/>
          <p:cNvSpPr txBox="1"/>
          <p:nvPr/>
        </p:nvSpPr>
        <p:spPr>
          <a:xfrm>
            <a:off x="1028700" y="2401626"/>
            <a:ext cx="15329067" cy="2415540"/>
          </a:xfrm>
          <a:prstGeom prst="rect">
            <a:avLst/>
          </a:prstGeom>
        </p:spPr>
        <p:txBody>
          <a:bodyPr lIns="0" tIns="0" rIns="0" bIns="0" rtlCol="0" anchor="t">
            <a:spAutoFit/>
          </a:bodyPr>
          <a:lstStyle/>
          <a:p>
            <a:pPr algn="l">
              <a:lnSpc>
                <a:spcPts val="3899"/>
              </a:lnSpc>
              <a:spcBef>
                <a:spcPct val="0"/>
              </a:spcBef>
            </a:pPr>
            <a:r>
              <a:rPr lang="en-US" sz="2599">
                <a:solidFill>
                  <a:srgbClr val="2B2C30"/>
                </a:solidFill>
                <a:latin typeface="Public Sans"/>
                <a:ea typeface="Public Sans"/>
                <a:cs typeface="Public Sans"/>
                <a:sym typeface="Public Sans"/>
              </a:rPr>
              <a:t>As a key member of the Qwen2.5 family, this model stands out due to its advanced architecture developed across a wide scale of parameters (0.5B to 72B). We selected this model primarily for its significant improvements in pre-training and post-training stages, which enhance its instruction-following capabilities. Its proven performance in the 1.5B range makes it a robust candidate for efficient fine-tuning and baseline comparison.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TextBox 2"/>
          <p:cNvSpPr txBox="1"/>
          <p:nvPr/>
        </p:nvSpPr>
        <p:spPr>
          <a:xfrm>
            <a:off x="1028700" y="971550"/>
            <a:ext cx="14300367" cy="970910"/>
          </a:xfrm>
          <a:prstGeom prst="rect">
            <a:avLst/>
          </a:prstGeom>
        </p:spPr>
        <p:txBody>
          <a:bodyPr lIns="0" tIns="0" rIns="0" bIns="0" rtlCol="0" anchor="t">
            <a:spAutoFit/>
          </a:bodyPr>
          <a:lstStyle/>
          <a:p>
            <a:pPr algn="l">
              <a:lnSpc>
                <a:spcPts val="7865"/>
              </a:lnSpc>
            </a:pPr>
            <a:r>
              <a:rPr lang="en-US" sz="6050" spc="30">
                <a:solidFill>
                  <a:srgbClr val="2B2C30"/>
                </a:solidFill>
                <a:latin typeface="Playfair Display"/>
                <a:ea typeface="Playfair Display"/>
                <a:cs typeface="Playfair Display"/>
                <a:sym typeface="Playfair Display"/>
              </a:rPr>
              <a:t>Selected Model: Llama-3.2-1B-Instruct</a:t>
            </a:r>
          </a:p>
        </p:txBody>
      </p:sp>
      <p:sp>
        <p:nvSpPr>
          <p:cNvPr id="3" name="TextBox 3"/>
          <p:cNvSpPr txBox="1"/>
          <p:nvPr/>
        </p:nvSpPr>
        <p:spPr>
          <a:xfrm>
            <a:off x="1028700" y="2364381"/>
            <a:ext cx="14566667" cy="2415540"/>
          </a:xfrm>
          <a:prstGeom prst="rect">
            <a:avLst/>
          </a:prstGeom>
        </p:spPr>
        <p:txBody>
          <a:bodyPr lIns="0" tIns="0" rIns="0" bIns="0" rtlCol="0" anchor="t">
            <a:spAutoFit/>
          </a:bodyPr>
          <a:lstStyle/>
          <a:p>
            <a:pPr algn="l">
              <a:lnSpc>
                <a:spcPts val="3899"/>
              </a:lnSpc>
              <a:spcBef>
                <a:spcPct val="0"/>
              </a:spcBef>
            </a:pPr>
            <a:r>
              <a:rPr lang="en-US" sz="2599">
                <a:solidFill>
                  <a:srgbClr val="2B2C30"/>
                </a:solidFill>
                <a:latin typeface="Public Sans"/>
                <a:ea typeface="Public Sans"/>
                <a:cs typeface="Public Sans"/>
                <a:sym typeface="Public Sans"/>
              </a:rPr>
              <a:t>Developed by Meta, Llama-3.2-1B was chosen for its specialized focus on multilingual support and high efficiency in small-scale models. Being part of a world-class model family, it provides a standardized benchmark for instruction-tuned performance. Including this model allows for a diverse comparative analysis, as it offers a different architectural approach than the Qwen family while maintaining a similar parameter footprint.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TextBox 2"/>
          <p:cNvSpPr txBox="1"/>
          <p:nvPr/>
        </p:nvSpPr>
        <p:spPr>
          <a:xfrm>
            <a:off x="1006871" y="942975"/>
            <a:ext cx="16230600" cy="651099"/>
          </a:xfrm>
          <a:prstGeom prst="rect">
            <a:avLst/>
          </a:prstGeom>
        </p:spPr>
        <p:txBody>
          <a:bodyPr lIns="0" tIns="0" rIns="0" bIns="0" rtlCol="0" anchor="t">
            <a:spAutoFit/>
          </a:bodyPr>
          <a:lstStyle/>
          <a:p>
            <a:pPr algn="l">
              <a:lnSpc>
                <a:spcPts val="5200"/>
              </a:lnSpc>
              <a:spcBef>
                <a:spcPct val="0"/>
              </a:spcBef>
            </a:pPr>
            <a:r>
              <a:rPr lang="en-US" sz="3714" b="1" spc="843">
                <a:solidFill>
                  <a:srgbClr val="2B2C30"/>
                </a:solidFill>
                <a:latin typeface="Public Sans Bold"/>
                <a:ea typeface="Public Sans Bold"/>
                <a:cs typeface="Public Sans Bold"/>
                <a:sym typeface="Public Sans Bold"/>
              </a:rPr>
              <a:t>DATASET</a:t>
            </a:r>
          </a:p>
        </p:txBody>
      </p:sp>
      <p:sp>
        <p:nvSpPr>
          <p:cNvPr id="3" name="AutoShape 3"/>
          <p:cNvSpPr/>
          <p:nvPr/>
        </p:nvSpPr>
        <p:spPr>
          <a:xfrm flipV="1">
            <a:off x="1028695" y="1760761"/>
            <a:ext cx="16230594" cy="38509"/>
          </a:xfrm>
          <a:prstGeom prst="line">
            <a:avLst/>
          </a:prstGeom>
          <a:ln w="9525" cap="flat">
            <a:solidFill>
              <a:srgbClr val="2B2C30"/>
            </a:solidFill>
            <a:prstDash val="solid"/>
            <a:headEnd type="none" w="sm" len="sm"/>
            <a:tailEnd type="none" w="sm" len="sm"/>
          </a:ln>
        </p:spPr>
      </p:sp>
      <p:sp>
        <p:nvSpPr>
          <p:cNvPr id="4" name="TextBox 4"/>
          <p:cNvSpPr txBox="1"/>
          <p:nvPr/>
        </p:nvSpPr>
        <p:spPr>
          <a:xfrm>
            <a:off x="771525" y="2808736"/>
            <a:ext cx="16744950" cy="2901315"/>
          </a:xfrm>
          <a:prstGeom prst="rect">
            <a:avLst/>
          </a:prstGeom>
        </p:spPr>
        <p:txBody>
          <a:bodyPr lIns="0" tIns="0" rIns="0" bIns="0" rtlCol="0" anchor="t">
            <a:spAutoFit/>
          </a:bodyPr>
          <a:lstStyle/>
          <a:p>
            <a:pPr marL="0" lvl="0" indent="0" algn="l">
              <a:lnSpc>
                <a:spcPts val="3899"/>
              </a:lnSpc>
              <a:spcBef>
                <a:spcPct val="0"/>
              </a:spcBef>
            </a:pPr>
            <a:r>
              <a:rPr lang="en-US" sz="2599" u="none" strike="noStrike">
                <a:solidFill>
                  <a:srgbClr val="2B2C30"/>
                </a:solidFill>
                <a:latin typeface="Public Sans"/>
                <a:ea typeface="Public Sans"/>
                <a:cs typeface="Public Sans"/>
                <a:sym typeface="Public Sans"/>
              </a:rPr>
              <a:t>The Renicames/turkish-law-chatbot dataset is a specialized corpus designed for Supervised Fine-Tuning (SFT) within the legal domain. It consists of question-and-answer pairs focused on the Turkish legal system, providing the necessary linguistic and contextual nuances required for a chatbot to interpret and respond to legal inquiries accurately. By utilizing this dataset, models can bridge the gap between general language understanding and the technical terminology inherent in Turkish laws, making it an essential resource for developing domain-specific AI assistants.</a:t>
            </a:r>
          </a:p>
        </p:txBody>
      </p:sp>
      <p:sp>
        <p:nvSpPr>
          <p:cNvPr id="5" name="TextBox 5"/>
          <p:cNvSpPr txBox="1"/>
          <p:nvPr/>
        </p:nvSpPr>
        <p:spPr>
          <a:xfrm>
            <a:off x="1028700" y="7100683"/>
            <a:ext cx="16744950" cy="527685"/>
          </a:xfrm>
          <a:prstGeom prst="rect">
            <a:avLst/>
          </a:prstGeom>
        </p:spPr>
        <p:txBody>
          <a:bodyPr lIns="0" tIns="0" rIns="0" bIns="0" rtlCol="0" anchor="t">
            <a:spAutoFit/>
          </a:bodyPr>
          <a:lstStyle/>
          <a:p>
            <a:pPr marL="0" lvl="0" indent="0" algn="ctr">
              <a:lnSpc>
                <a:spcPts val="4349"/>
              </a:lnSpc>
              <a:spcBef>
                <a:spcPct val="0"/>
              </a:spcBef>
            </a:pPr>
            <a:r>
              <a:rPr lang="en-US" sz="2899" b="1">
                <a:solidFill>
                  <a:srgbClr val="2B2C30"/>
                </a:solidFill>
                <a:latin typeface="Public Sans Bold"/>
                <a:ea typeface="Public Sans Bold"/>
                <a:cs typeface="Public Sans Bold"/>
                <a:sym typeface="Public Sans Bold"/>
              </a:rPr>
              <a:t>13.4K Question-Answer Pair About Turkish Jurisprudence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TextBox 2"/>
          <p:cNvSpPr txBox="1"/>
          <p:nvPr/>
        </p:nvSpPr>
        <p:spPr>
          <a:xfrm>
            <a:off x="696317" y="2789905"/>
            <a:ext cx="16851708" cy="3302514"/>
          </a:xfrm>
          <a:prstGeom prst="rect">
            <a:avLst/>
          </a:prstGeom>
        </p:spPr>
        <p:txBody>
          <a:bodyPr lIns="0" tIns="0" rIns="0" bIns="0" rtlCol="0" anchor="t">
            <a:spAutoFit/>
          </a:bodyPr>
          <a:lstStyle/>
          <a:p>
            <a:pPr algn="l">
              <a:lnSpc>
                <a:spcPts val="3776"/>
              </a:lnSpc>
            </a:pPr>
            <a:r>
              <a:rPr lang="en-US" sz="2904" spc="14">
                <a:solidFill>
                  <a:srgbClr val="2B2C30"/>
                </a:solidFill>
                <a:latin typeface="Playfair Display"/>
                <a:ea typeface="Playfair Display"/>
                <a:cs typeface="Playfair Display"/>
                <a:sym typeface="Playfair Display"/>
              </a:rPr>
              <a:t>We used ROUGE-1, ROUGE-2, and ROUGE-L to measure lexical overlap between</a:t>
            </a:r>
          </a:p>
          <a:p>
            <a:pPr algn="l">
              <a:lnSpc>
                <a:spcPts val="3776"/>
              </a:lnSpc>
            </a:pPr>
            <a:r>
              <a:rPr lang="en-US" sz="2904" spc="14">
                <a:solidFill>
                  <a:srgbClr val="2B2C30"/>
                </a:solidFill>
                <a:latin typeface="Playfair Display"/>
                <a:ea typeface="Playfair Display"/>
                <a:cs typeface="Playfair Display"/>
                <a:sym typeface="Playfair Display"/>
              </a:rPr>
              <a:t>generated and reference answers. In addition, Exact Match and Token F1 were used as answer-level and word-level comparison metrics. Since legal answers may be correct even when phrased differently, the automatic metrics were supported with manual inspection for hallucinations, incomplete answers, and legally inaccurate statements. The models were loaded using the Hugging Face Transformers library, and the</a:t>
            </a:r>
          </a:p>
          <a:p>
            <a:pPr algn="l">
              <a:lnSpc>
                <a:spcPts val="3776"/>
              </a:lnSpc>
            </a:pPr>
            <a:r>
              <a:rPr lang="en-US" sz="2904" spc="14">
                <a:solidFill>
                  <a:srgbClr val="2B2C30"/>
                </a:solidFill>
                <a:latin typeface="Playfair Display"/>
                <a:ea typeface="Playfair Display"/>
                <a:cs typeface="Playfair Display"/>
                <a:sym typeface="Playfair Display"/>
              </a:rPr>
              <a:t>dataset was accessed using the Hugging Face Datasets library.</a:t>
            </a:r>
          </a:p>
        </p:txBody>
      </p:sp>
      <p:sp>
        <p:nvSpPr>
          <p:cNvPr id="3" name="TextBox 3"/>
          <p:cNvSpPr txBox="1"/>
          <p:nvPr/>
        </p:nvSpPr>
        <p:spPr>
          <a:xfrm>
            <a:off x="1006871" y="942975"/>
            <a:ext cx="16230600" cy="651099"/>
          </a:xfrm>
          <a:prstGeom prst="rect">
            <a:avLst/>
          </a:prstGeom>
        </p:spPr>
        <p:txBody>
          <a:bodyPr lIns="0" tIns="0" rIns="0" bIns="0" rtlCol="0" anchor="t">
            <a:spAutoFit/>
          </a:bodyPr>
          <a:lstStyle/>
          <a:p>
            <a:pPr algn="l">
              <a:lnSpc>
                <a:spcPts val="5200"/>
              </a:lnSpc>
              <a:spcBef>
                <a:spcPct val="0"/>
              </a:spcBef>
            </a:pPr>
            <a:r>
              <a:rPr lang="en-US" sz="3714" b="1" spc="843">
                <a:solidFill>
                  <a:srgbClr val="2B2C30"/>
                </a:solidFill>
                <a:latin typeface="Public Sans Bold"/>
                <a:ea typeface="Public Sans Bold"/>
                <a:cs typeface="Public Sans Bold"/>
                <a:sym typeface="Public Sans Bold"/>
              </a:rPr>
              <a:t>EVALUATION SETUP</a:t>
            </a:r>
          </a:p>
        </p:txBody>
      </p:sp>
      <p:sp>
        <p:nvSpPr>
          <p:cNvPr id="4" name="AutoShape 4"/>
          <p:cNvSpPr/>
          <p:nvPr/>
        </p:nvSpPr>
        <p:spPr>
          <a:xfrm flipV="1">
            <a:off x="1028695" y="1760761"/>
            <a:ext cx="16230594" cy="38509"/>
          </a:xfrm>
          <a:prstGeom prst="line">
            <a:avLst/>
          </a:prstGeom>
          <a:ln w="9525" cap="flat">
            <a:solidFill>
              <a:srgbClr val="2B2C30"/>
            </a:solidFill>
            <a:prstDash val="solid"/>
            <a:headEnd type="none" w="sm" len="sm"/>
            <a:tailEnd type="none" w="sm" len="sm"/>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AutoShape 2"/>
          <p:cNvSpPr/>
          <p:nvPr/>
        </p:nvSpPr>
        <p:spPr>
          <a:xfrm flipV="1">
            <a:off x="1028695" y="1760761"/>
            <a:ext cx="16230594" cy="38509"/>
          </a:xfrm>
          <a:prstGeom prst="line">
            <a:avLst/>
          </a:prstGeom>
          <a:ln w="9525" cap="flat">
            <a:solidFill>
              <a:srgbClr val="2B2C30"/>
            </a:solidFill>
            <a:prstDash val="solid"/>
            <a:headEnd type="none" w="sm" len="sm"/>
            <a:tailEnd type="none" w="sm" len="sm"/>
          </a:ln>
        </p:spPr>
      </p:sp>
      <p:sp>
        <p:nvSpPr>
          <p:cNvPr id="3" name="Freeform 3"/>
          <p:cNvSpPr/>
          <p:nvPr/>
        </p:nvSpPr>
        <p:spPr>
          <a:xfrm>
            <a:off x="1654091" y="2371472"/>
            <a:ext cx="14598528" cy="2299268"/>
          </a:xfrm>
          <a:custGeom>
            <a:avLst/>
            <a:gdLst/>
            <a:ahLst/>
            <a:cxnLst/>
            <a:rect l="l" t="t" r="r" b="b"/>
            <a:pathLst>
              <a:path w="14598528" h="2299268">
                <a:moveTo>
                  <a:pt x="0" y="0"/>
                </a:moveTo>
                <a:lnTo>
                  <a:pt x="14598528" y="0"/>
                </a:lnTo>
                <a:lnTo>
                  <a:pt x="14598528" y="2299269"/>
                </a:lnTo>
                <a:lnTo>
                  <a:pt x="0" y="2299269"/>
                </a:lnTo>
                <a:lnTo>
                  <a:pt x="0" y="0"/>
                </a:lnTo>
                <a:close/>
              </a:path>
            </a:pathLst>
          </a:custGeom>
          <a:blipFill>
            <a:blip r:embed="rId2"/>
            <a:stretch>
              <a:fillRect/>
            </a:stretch>
          </a:blipFill>
        </p:spPr>
      </p:sp>
      <p:sp>
        <p:nvSpPr>
          <p:cNvPr id="4" name="Freeform 4"/>
          <p:cNvSpPr/>
          <p:nvPr/>
        </p:nvSpPr>
        <p:spPr>
          <a:xfrm>
            <a:off x="1654091" y="5451791"/>
            <a:ext cx="14598528" cy="1973614"/>
          </a:xfrm>
          <a:custGeom>
            <a:avLst/>
            <a:gdLst/>
            <a:ahLst/>
            <a:cxnLst/>
            <a:rect l="l" t="t" r="r" b="b"/>
            <a:pathLst>
              <a:path w="14598528" h="1973614">
                <a:moveTo>
                  <a:pt x="0" y="0"/>
                </a:moveTo>
                <a:lnTo>
                  <a:pt x="14598528" y="0"/>
                </a:lnTo>
                <a:lnTo>
                  <a:pt x="14598528" y="1973613"/>
                </a:lnTo>
                <a:lnTo>
                  <a:pt x="0" y="1973613"/>
                </a:lnTo>
                <a:lnTo>
                  <a:pt x="0" y="0"/>
                </a:lnTo>
                <a:close/>
              </a:path>
            </a:pathLst>
          </a:custGeom>
          <a:blipFill>
            <a:blip r:embed="rId3"/>
            <a:stretch>
              <a:fillRect l="-2103" t="-12730" r="-2103"/>
            </a:stretch>
          </a:blipFill>
        </p:spPr>
      </p:sp>
      <p:sp>
        <p:nvSpPr>
          <p:cNvPr id="5" name="TextBox 5"/>
          <p:cNvSpPr txBox="1"/>
          <p:nvPr/>
        </p:nvSpPr>
        <p:spPr>
          <a:xfrm>
            <a:off x="1006871" y="942975"/>
            <a:ext cx="16230600" cy="651099"/>
          </a:xfrm>
          <a:prstGeom prst="rect">
            <a:avLst/>
          </a:prstGeom>
        </p:spPr>
        <p:txBody>
          <a:bodyPr lIns="0" tIns="0" rIns="0" bIns="0" rtlCol="0" anchor="t">
            <a:spAutoFit/>
          </a:bodyPr>
          <a:lstStyle/>
          <a:p>
            <a:pPr algn="l">
              <a:lnSpc>
                <a:spcPts val="5200"/>
              </a:lnSpc>
              <a:spcBef>
                <a:spcPct val="0"/>
              </a:spcBef>
            </a:pPr>
            <a:r>
              <a:rPr lang="en-US" sz="3714" b="1" spc="843">
                <a:solidFill>
                  <a:srgbClr val="2B2C30"/>
                </a:solidFill>
                <a:latin typeface="Public Sans Bold"/>
                <a:ea typeface="Public Sans Bold"/>
                <a:cs typeface="Public Sans Bold"/>
                <a:sym typeface="Public Sans Bold"/>
              </a:rPr>
              <a:t>EVALUATION RESULTS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TextBox 2"/>
          <p:cNvSpPr txBox="1"/>
          <p:nvPr/>
        </p:nvSpPr>
        <p:spPr>
          <a:xfrm>
            <a:off x="1028700" y="971550"/>
            <a:ext cx="14300367" cy="970910"/>
          </a:xfrm>
          <a:prstGeom prst="rect">
            <a:avLst/>
          </a:prstGeom>
        </p:spPr>
        <p:txBody>
          <a:bodyPr lIns="0" tIns="0" rIns="0" bIns="0" rtlCol="0" anchor="t">
            <a:spAutoFit/>
          </a:bodyPr>
          <a:lstStyle/>
          <a:p>
            <a:pPr algn="l">
              <a:lnSpc>
                <a:spcPts val="7865"/>
              </a:lnSpc>
            </a:pPr>
            <a:r>
              <a:rPr lang="en-US" sz="6050" spc="30">
                <a:solidFill>
                  <a:srgbClr val="2B2C30"/>
                </a:solidFill>
                <a:latin typeface="Playfair Display"/>
                <a:ea typeface="Playfair Display"/>
                <a:cs typeface="Playfair Display"/>
                <a:sym typeface="Playfair Display"/>
              </a:rPr>
              <a:t>Selected Model For Finetuning</a:t>
            </a:r>
          </a:p>
        </p:txBody>
      </p:sp>
      <p:sp>
        <p:nvSpPr>
          <p:cNvPr id="3" name="TextBox 3"/>
          <p:cNvSpPr txBox="1"/>
          <p:nvPr/>
        </p:nvSpPr>
        <p:spPr>
          <a:xfrm>
            <a:off x="299418" y="2780093"/>
            <a:ext cx="17667778" cy="4316032"/>
          </a:xfrm>
          <a:prstGeom prst="rect">
            <a:avLst/>
          </a:prstGeom>
        </p:spPr>
        <p:txBody>
          <a:bodyPr lIns="0" tIns="0" rIns="0" bIns="0" rtlCol="0" anchor="t">
            <a:spAutoFit/>
          </a:bodyPr>
          <a:lstStyle/>
          <a:p>
            <a:pPr marL="0" lvl="0" indent="0" algn="l">
              <a:lnSpc>
                <a:spcPts val="3776"/>
              </a:lnSpc>
              <a:spcBef>
                <a:spcPct val="0"/>
              </a:spcBef>
            </a:pPr>
            <a:r>
              <a:rPr lang="en-US" sz="2904" u="none" strike="noStrike" spc="14">
                <a:solidFill>
                  <a:srgbClr val="2B2C30"/>
                </a:solidFill>
                <a:latin typeface="Playfair Display"/>
                <a:ea typeface="Playfair Display"/>
                <a:cs typeface="Playfair Display"/>
                <a:sym typeface="Playfair Display"/>
              </a:rPr>
              <a:t>Based on the baseline results, we selected:</a:t>
            </a:r>
          </a:p>
          <a:p>
            <a:pPr marL="0" lvl="0" indent="0" algn="l">
              <a:lnSpc>
                <a:spcPts val="3776"/>
              </a:lnSpc>
              <a:spcBef>
                <a:spcPct val="0"/>
              </a:spcBef>
            </a:pPr>
            <a:endParaRPr lang="en-US" sz="2904" u="none" strike="noStrike" spc="14">
              <a:solidFill>
                <a:srgbClr val="2B2C30"/>
              </a:solidFill>
              <a:latin typeface="Playfair Display"/>
              <a:ea typeface="Playfair Display"/>
              <a:cs typeface="Playfair Display"/>
              <a:sym typeface="Playfair Display"/>
            </a:endParaRPr>
          </a:p>
          <a:p>
            <a:pPr marL="0" lvl="0" indent="0" algn="l">
              <a:lnSpc>
                <a:spcPts val="4166"/>
              </a:lnSpc>
              <a:spcBef>
                <a:spcPct val="0"/>
              </a:spcBef>
            </a:pPr>
            <a:r>
              <a:rPr lang="en-US" sz="3204" u="none" strike="noStrike" spc="16">
                <a:solidFill>
                  <a:srgbClr val="2B2C30"/>
                </a:solidFill>
                <a:latin typeface="Playfair Display"/>
                <a:ea typeface="Playfair Display"/>
                <a:cs typeface="Playfair Display"/>
                <a:sym typeface="Playfair Display"/>
              </a:rPr>
              <a:t> </a:t>
            </a:r>
            <a:r>
              <a:rPr lang="en-US" sz="3204" b="1" u="none" strike="noStrike" spc="16">
                <a:solidFill>
                  <a:srgbClr val="2B2C30"/>
                </a:solidFill>
                <a:latin typeface="Playfair Display Bold"/>
                <a:ea typeface="Playfair Display Bold"/>
                <a:cs typeface="Playfair Display Bold"/>
                <a:sym typeface="Playfair Display Bold"/>
              </a:rPr>
              <a:t>Qwen/Qwen2.5-1.5B-Instruct</a:t>
            </a:r>
          </a:p>
          <a:p>
            <a:pPr marL="0" lvl="0" indent="0" algn="l">
              <a:lnSpc>
                <a:spcPts val="3776"/>
              </a:lnSpc>
              <a:spcBef>
                <a:spcPct val="0"/>
              </a:spcBef>
            </a:pPr>
            <a:endParaRPr lang="en-US" sz="3204" b="1" u="none" strike="noStrike" spc="16">
              <a:solidFill>
                <a:srgbClr val="2B2C30"/>
              </a:solidFill>
              <a:latin typeface="Playfair Display Bold"/>
              <a:ea typeface="Playfair Display Bold"/>
              <a:cs typeface="Playfair Display Bold"/>
              <a:sym typeface="Playfair Display Bold"/>
            </a:endParaRPr>
          </a:p>
          <a:p>
            <a:pPr marL="0" lvl="0" indent="0" algn="l">
              <a:lnSpc>
                <a:spcPts val="3776"/>
              </a:lnSpc>
              <a:spcBef>
                <a:spcPct val="0"/>
              </a:spcBef>
            </a:pPr>
            <a:endParaRPr lang="en-US" sz="3204" b="1" u="none" strike="noStrike" spc="16">
              <a:solidFill>
                <a:srgbClr val="2B2C30"/>
              </a:solidFill>
              <a:latin typeface="Playfair Display Bold"/>
              <a:ea typeface="Playfair Display Bold"/>
              <a:cs typeface="Playfair Display Bold"/>
              <a:sym typeface="Playfair Display Bold"/>
            </a:endParaRPr>
          </a:p>
          <a:p>
            <a:pPr marL="0" lvl="0" indent="0" algn="l">
              <a:lnSpc>
                <a:spcPts val="3776"/>
              </a:lnSpc>
              <a:spcBef>
                <a:spcPct val="0"/>
              </a:spcBef>
            </a:pPr>
            <a:r>
              <a:rPr lang="en-US" sz="2904" u="none" strike="noStrike" spc="14">
                <a:solidFill>
                  <a:srgbClr val="2B2C30"/>
                </a:solidFill>
                <a:latin typeface="Playfair Display"/>
                <a:ea typeface="Playfair Display"/>
                <a:cs typeface="Playfair Display"/>
                <a:sym typeface="Playfair Display"/>
              </a:rPr>
              <a:t>Qwen was selected because it achieved better ROUGE and Token F1 scores than</a:t>
            </a:r>
          </a:p>
          <a:p>
            <a:pPr marL="0" lvl="0" indent="0" algn="l">
              <a:lnSpc>
                <a:spcPts val="3776"/>
              </a:lnSpc>
              <a:spcBef>
                <a:spcPct val="0"/>
              </a:spcBef>
            </a:pPr>
            <a:r>
              <a:rPr lang="en-US" sz="2904" u="none" strike="noStrike" spc="14">
                <a:solidFill>
                  <a:srgbClr val="2B2C30"/>
                </a:solidFill>
                <a:latin typeface="Playfair Display"/>
                <a:ea typeface="Playfair Display"/>
                <a:cs typeface="Playfair Display"/>
                <a:sym typeface="Playfair Display"/>
              </a:rPr>
              <a:t>Llama and produced more usable Turkish answers. It is also small enough for parameterefficient fine-tuning. We plan to use QLoRA, which combines quantized model weights with LoRA-style adaptation and is suitable for limited GPU memory environments.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EEE7"/>
        </a:solidFill>
        <a:effectLst/>
      </p:bgPr>
    </p:bg>
    <p:spTree>
      <p:nvGrpSpPr>
        <p:cNvPr id="1" name=""/>
        <p:cNvGrpSpPr/>
        <p:nvPr/>
      </p:nvGrpSpPr>
      <p:grpSpPr>
        <a:xfrm>
          <a:off x="0" y="0"/>
          <a:ext cx="0" cy="0"/>
          <a:chOff x="0" y="0"/>
          <a:chExt cx="0" cy="0"/>
        </a:xfrm>
      </p:grpSpPr>
      <p:sp>
        <p:nvSpPr>
          <p:cNvPr id="2" name="AutoShape 2"/>
          <p:cNvSpPr/>
          <p:nvPr/>
        </p:nvSpPr>
        <p:spPr>
          <a:xfrm flipV="1">
            <a:off x="1028695" y="1760761"/>
            <a:ext cx="16230594" cy="38509"/>
          </a:xfrm>
          <a:prstGeom prst="line">
            <a:avLst/>
          </a:prstGeom>
          <a:ln w="9525" cap="flat">
            <a:solidFill>
              <a:srgbClr val="2B2C30"/>
            </a:solidFill>
            <a:prstDash val="solid"/>
            <a:headEnd type="none" w="sm" len="sm"/>
            <a:tailEnd type="none" w="sm" len="sm"/>
          </a:ln>
        </p:spPr>
      </p:sp>
      <p:sp>
        <p:nvSpPr>
          <p:cNvPr id="3" name="TextBox 3"/>
          <p:cNvSpPr txBox="1"/>
          <p:nvPr/>
        </p:nvSpPr>
        <p:spPr>
          <a:xfrm>
            <a:off x="1006871" y="942975"/>
            <a:ext cx="16230600" cy="651099"/>
          </a:xfrm>
          <a:prstGeom prst="rect">
            <a:avLst/>
          </a:prstGeom>
        </p:spPr>
        <p:txBody>
          <a:bodyPr lIns="0" tIns="0" rIns="0" bIns="0" rtlCol="0" anchor="t">
            <a:spAutoFit/>
          </a:bodyPr>
          <a:lstStyle/>
          <a:p>
            <a:pPr algn="l">
              <a:lnSpc>
                <a:spcPts val="5200"/>
              </a:lnSpc>
              <a:spcBef>
                <a:spcPct val="0"/>
              </a:spcBef>
            </a:pPr>
            <a:r>
              <a:rPr lang="en-US" sz="3714" b="1" spc="843">
                <a:solidFill>
                  <a:srgbClr val="2B2C30"/>
                </a:solidFill>
                <a:latin typeface="Public Sans Bold"/>
                <a:ea typeface="Public Sans Bold"/>
                <a:cs typeface="Public Sans Bold"/>
                <a:sym typeface="Public Sans Bold"/>
              </a:rPr>
              <a:t>FINE-TUNING PLAN</a:t>
            </a:r>
          </a:p>
        </p:txBody>
      </p:sp>
      <p:sp>
        <p:nvSpPr>
          <p:cNvPr id="4" name="TextBox 4"/>
          <p:cNvSpPr txBox="1"/>
          <p:nvPr/>
        </p:nvSpPr>
        <p:spPr>
          <a:xfrm>
            <a:off x="1028700" y="2180536"/>
            <a:ext cx="11471184" cy="4385310"/>
          </a:xfrm>
          <a:prstGeom prst="rect">
            <a:avLst/>
          </a:prstGeom>
        </p:spPr>
        <p:txBody>
          <a:bodyPr lIns="0" tIns="0" rIns="0" bIns="0" rtlCol="0" anchor="t">
            <a:spAutoFit/>
          </a:bodyPr>
          <a:lstStyle/>
          <a:p>
            <a:pPr marL="604519" lvl="1" indent="-302260" algn="l">
              <a:lnSpc>
                <a:spcPts val="5879"/>
              </a:lnSpc>
              <a:buAutoNum type="arabicPeriod"/>
            </a:pPr>
            <a:r>
              <a:rPr lang="en-US" sz="2799" b="1">
                <a:solidFill>
                  <a:srgbClr val="2B2C30"/>
                </a:solidFill>
                <a:latin typeface="Public Sans Bold"/>
                <a:ea typeface="Public Sans Bold"/>
                <a:cs typeface="Public Sans Bold"/>
                <a:sym typeface="Public Sans Bold"/>
              </a:rPr>
              <a:t>Preprocess the SFT corpus. </a:t>
            </a:r>
          </a:p>
          <a:p>
            <a:pPr marL="604519" lvl="1" indent="-302260" algn="l">
              <a:lnSpc>
                <a:spcPts val="5879"/>
              </a:lnSpc>
              <a:buAutoNum type="arabicPeriod"/>
            </a:pPr>
            <a:r>
              <a:rPr lang="en-US" sz="2799" b="1">
                <a:solidFill>
                  <a:srgbClr val="2B2C30"/>
                </a:solidFill>
                <a:latin typeface="Public Sans Bold"/>
                <a:ea typeface="Public Sans Bold"/>
                <a:cs typeface="Public Sans Bold"/>
                <a:sym typeface="Public Sans Bold"/>
              </a:rPr>
              <a:t>Split the training data into training and validation subsets. </a:t>
            </a:r>
          </a:p>
          <a:p>
            <a:pPr marL="604519" lvl="1" indent="-302260" algn="l">
              <a:lnSpc>
                <a:spcPts val="5879"/>
              </a:lnSpc>
              <a:buAutoNum type="arabicPeriod"/>
            </a:pPr>
            <a:r>
              <a:rPr lang="en-US" sz="2799" b="1">
                <a:solidFill>
                  <a:srgbClr val="2B2C30"/>
                </a:solidFill>
                <a:latin typeface="Public Sans Bold"/>
                <a:ea typeface="Public Sans Bold"/>
                <a:cs typeface="Public Sans Bold"/>
                <a:sym typeface="Public Sans Bold"/>
              </a:rPr>
              <a:t>Fine-tune Qwen using QLoRA. </a:t>
            </a:r>
          </a:p>
          <a:p>
            <a:pPr marL="604519" lvl="1" indent="-302260" algn="l">
              <a:lnSpc>
                <a:spcPts val="5879"/>
              </a:lnSpc>
              <a:buAutoNum type="arabicPeriod"/>
            </a:pPr>
            <a:r>
              <a:rPr lang="en-US" sz="2799" b="1">
                <a:solidFill>
                  <a:srgbClr val="2B2C30"/>
                </a:solidFill>
                <a:latin typeface="Public Sans Bold"/>
                <a:ea typeface="Public Sans Bold"/>
                <a:cs typeface="Public Sans Bold"/>
                <a:sym typeface="Public Sans Bold"/>
              </a:rPr>
              <a:t>Re-evaluate the fine-tuned model on the same evaluation set. </a:t>
            </a:r>
          </a:p>
          <a:p>
            <a:pPr marL="604519" lvl="1" indent="-302260" algn="l">
              <a:lnSpc>
                <a:spcPts val="5879"/>
              </a:lnSpc>
              <a:buAutoNum type="arabicPeriod"/>
            </a:pPr>
            <a:r>
              <a:rPr lang="en-US" sz="2799" b="1">
                <a:solidFill>
                  <a:srgbClr val="2B2C30"/>
                </a:solidFill>
                <a:latin typeface="Public Sans Bold"/>
                <a:ea typeface="Public Sans Bold"/>
                <a:cs typeface="Public Sans Bold"/>
                <a:sym typeface="Public Sans Bold"/>
              </a:rPr>
              <a:t>Compare baseline and fine-tuned results.</a:t>
            </a:r>
          </a:p>
          <a:p>
            <a:pPr marL="604519" lvl="1" indent="-302260" algn="l">
              <a:lnSpc>
                <a:spcPts val="5879"/>
              </a:lnSpc>
              <a:buAutoNum type="arabicPeriod"/>
            </a:pPr>
            <a:r>
              <a:rPr lang="en-US" sz="2799" b="1">
                <a:solidFill>
                  <a:srgbClr val="2B2C30"/>
                </a:solidFill>
                <a:latin typeface="Public Sans Bold"/>
                <a:ea typeface="Public Sans Bold"/>
                <a:cs typeface="Public Sans Bold"/>
                <a:sym typeface="Public Sans Bold"/>
              </a:rPr>
              <a:t>Analyze remaining error patterns.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466</Words>
  <Application>Microsoft Office PowerPoint</Application>
  <PresentationFormat>Özel</PresentationFormat>
  <Paragraphs>39</Paragraphs>
  <Slides>8</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8</vt:i4>
      </vt:variant>
    </vt:vector>
  </HeadingPairs>
  <TitlesOfParts>
    <vt:vector size="15" baseType="lpstr">
      <vt:lpstr>Arial</vt:lpstr>
      <vt:lpstr>Playfair Display</vt:lpstr>
      <vt:lpstr>Public Sans</vt:lpstr>
      <vt:lpstr>Playfair Display Bold</vt:lpstr>
      <vt:lpstr>Calibri</vt:lpstr>
      <vt:lpstr>Public Sans Bold</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Cream Neutral Minimalist New Business Pitch Deck Presentation</dc:title>
  <cp:lastModifiedBy>MEfe</cp:lastModifiedBy>
  <cp:revision>2</cp:revision>
  <dcterms:created xsi:type="dcterms:W3CDTF">2006-08-16T00:00:00Z</dcterms:created>
  <dcterms:modified xsi:type="dcterms:W3CDTF">2026-05-11T06:38:11Z</dcterms:modified>
  <dc:identifier>DAHJSFzqg4A</dc:identifier>
</cp:coreProperties>
</file>