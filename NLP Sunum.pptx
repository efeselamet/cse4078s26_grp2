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Lst>
  <p:sldSz cx="18288000" cy="10287000"/>
  <p:notesSz cx="6858000" cy="9144000"/>
  <p:embeddedFontLst>
    <p:embeddedFont>
      <p:font typeface="Public Sans Bold" charset="1" panose="00000000000000000000"/>
      <p:regular r:id="rId14"/>
    </p:embeddedFont>
    <p:embeddedFont>
      <p:font typeface="Playfair Display" charset="1" panose="00000500000000000000"/>
      <p:regular r:id="rId15"/>
    </p:embeddedFont>
    <p:embeddedFont>
      <p:font typeface="Public Sans" charset="1" panose="00000000000000000000"/>
      <p:regular r:id="rId16"/>
    </p:embeddedFont>
    <p:embeddedFont>
      <p:font typeface="Playfair Display Bold" charset="1" panose="00000800000000000000"/>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fonts/font14.fntdata" Type="http://schemas.openxmlformats.org/officeDocument/2006/relationships/font"/><Relationship Id="rId15" Target="fonts/font15.fntdata" Type="http://schemas.openxmlformats.org/officeDocument/2006/relationships/font"/><Relationship Id="rId16" Target="fonts/font16.fntdata" Type="http://schemas.openxmlformats.org/officeDocument/2006/relationships/font"/><Relationship Id="rId17" Target="fonts/font17.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706" y="4514765"/>
            <a:ext cx="16230594" cy="38509"/>
          </a:xfrm>
          <a:prstGeom prst="line">
            <a:avLst/>
          </a:prstGeom>
          <a:ln cap="flat" w="9525">
            <a:solidFill>
              <a:srgbClr val="2B2C30"/>
            </a:solidFill>
            <a:prstDash val="solid"/>
            <a:headEnd type="none" len="sm" w="sm"/>
            <a:tailEnd type="none" len="sm" w="sm"/>
          </a:ln>
        </p:spPr>
      </p:sp>
      <p:sp>
        <p:nvSpPr>
          <p:cNvPr name="TextBox 3" id="3"/>
          <p:cNvSpPr txBox="true"/>
          <p:nvPr/>
        </p:nvSpPr>
        <p:spPr>
          <a:xfrm rot="0">
            <a:off x="1006882" y="4728792"/>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Bold"/>
                <a:ea typeface="Public Sans Bold"/>
                <a:cs typeface="Public Sans Bold"/>
                <a:sym typeface="Public Sans Bold"/>
              </a:rPr>
              <a:t>PROJECT PROGRESS PRESANTATION</a:t>
            </a:r>
          </a:p>
        </p:txBody>
      </p:sp>
      <p:sp>
        <p:nvSpPr>
          <p:cNvPr name="TextBox 4" id="4"/>
          <p:cNvSpPr txBox="true"/>
          <p:nvPr/>
        </p:nvSpPr>
        <p:spPr>
          <a:xfrm rot="0">
            <a:off x="850974" y="2332416"/>
            <a:ext cx="16408332" cy="2084083"/>
          </a:xfrm>
          <a:prstGeom prst="rect">
            <a:avLst/>
          </a:prstGeom>
        </p:spPr>
        <p:txBody>
          <a:bodyPr anchor="t" rtlCol="false" tIns="0" lIns="0" bIns="0" rIns="0">
            <a:spAutoFit/>
          </a:bodyPr>
          <a:lstStyle/>
          <a:p>
            <a:pPr algn="l">
              <a:lnSpc>
                <a:spcPts val="15250"/>
              </a:lnSpc>
            </a:pPr>
            <a:r>
              <a:rPr lang="en-US" sz="16758" spc="83">
                <a:solidFill>
                  <a:srgbClr val="2B2C30"/>
                </a:solidFill>
                <a:latin typeface="Playfair Display"/>
                <a:ea typeface="Playfair Display"/>
                <a:cs typeface="Playfair Display"/>
                <a:sym typeface="Playfair Display"/>
              </a:rPr>
              <a:t>Group 2</a:t>
            </a:r>
          </a:p>
        </p:txBody>
      </p:sp>
      <p:sp>
        <p:nvSpPr>
          <p:cNvPr name="TextBox 5" id="5"/>
          <p:cNvSpPr txBox="true"/>
          <p:nvPr/>
        </p:nvSpPr>
        <p:spPr>
          <a:xfrm rot="0">
            <a:off x="1016407" y="6726555"/>
            <a:ext cx="3392558" cy="2617470"/>
          </a:xfrm>
          <a:prstGeom prst="rect">
            <a:avLst/>
          </a:prstGeom>
        </p:spPr>
        <p:txBody>
          <a:bodyPr anchor="t" rtlCol="false" tIns="0" lIns="0" bIns="0" rIns="0">
            <a:spAutoFit/>
          </a:bodyPr>
          <a:lstStyle/>
          <a:p>
            <a:pPr algn="l">
              <a:lnSpc>
                <a:spcPts val="3450"/>
              </a:lnSpc>
            </a:pPr>
            <a:r>
              <a:rPr lang="en-US" sz="2300">
                <a:solidFill>
                  <a:srgbClr val="2B2C30"/>
                </a:solidFill>
                <a:latin typeface="Public Sans"/>
                <a:ea typeface="Public Sans"/>
                <a:cs typeface="Public Sans"/>
                <a:sym typeface="Public Sans"/>
              </a:rPr>
              <a:t>Mehmet Efe Selamet</a:t>
            </a:r>
          </a:p>
          <a:p>
            <a:pPr algn="l">
              <a:lnSpc>
                <a:spcPts val="3450"/>
              </a:lnSpc>
            </a:pPr>
            <a:r>
              <a:rPr lang="en-US" sz="2300">
                <a:solidFill>
                  <a:srgbClr val="2B2C30"/>
                </a:solidFill>
                <a:latin typeface="Public Sans"/>
                <a:ea typeface="Public Sans"/>
                <a:cs typeface="Public Sans"/>
                <a:sym typeface="Public Sans"/>
              </a:rPr>
              <a:t>Barış Korkmaz </a:t>
            </a:r>
          </a:p>
          <a:p>
            <a:pPr algn="l">
              <a:lnSpc>
                <a:spcPts val="3450"/>
              </a:lnSpc>
            </a:pPr>
            <a:r>
              <a:rPr lang="en-US" sz="2300">
                <a:solidFill>
                  <a:srgbClr val="2B2C30"/>
                </a:solidFill>
                <a:latin typeface="Public Sans"/>
                <a:ea typeface="Public Sans"/>
                <a:cs typeface="Public Sans"/>
                <a:sym typeface="Public Sans"/>
              </a:rPr>
              <a:t>Aşkın Yavuz Tuna</a:t>
            </a:r>
          </a:p>
          <a:p>
            <a:pPr algn="l">
              <a:lnSpc>
                <a:spcPts val="3450"/>
              </a:lnSpc>
            </a:pPr>
            <a:r>
              <a:rPr lang="en-US" sz="2300">
                <a:solidFill>
                  <a:srgbClr val="2B2C30"/>
                </a:solidFill>
                <a:latin typeface="Public Sans"/>
                <a:ea typeface="Public Sans"/>
                <a:cs typeface="Public Sans"/>
                <a:sym typeface="Public Sans"/>
              </a:rPr>
              <a:t>Cihat Emre Vardiş</a:t>
            </a:r>
          </a:p>
          <a:p>
            <a:pPr algn="l">
              <a:lnSpc>
                <a:spcPts val="3450"/>
              </a:lnSpc>
            </a:pPr>
            <a:r>
              <a:rPr lang="en-US" sz="2300">
                <a:solidFill>
                  <a:srgbClr val="2B2C30"/>
                </a:solidFill>
                <a:latin typeface="Public Sans"/>
                <a:ea typeface="Public Sans"/>
                <a:cs typeface="Public Sans"/>
                <a:sym typeface="Public Sans"/>
              </a:rPr>
              <a:t>Yusuf Samet Pek</a:t>
            </a:r>
          </a:p>
          <a:p>
            <a:pPr algn="l">
              <a:lnSpc>
                <a:spcPts val="3450"/>
              </a:lnSpc>
            </a:pPr>
          </a:p>
        </p:txBody>
      </p:sp>
      <p:sp>
        <p:nvSpPr>
          <p:cNvPr name="TextBox 6" id="6"/>
          <p:cNvSpPr txBox="true"/>
          <p:nvPr/>
        </p:nvSpPr>
        <p:spPr>
          <a:xfrm rot="0">
            <a:off x="4408966" y="6726555"/>
            <a:ext cx="3392558" cy="2179320"/>
          </a:xfrm>
          <a:prstGeom prst="rect">
            <a:avLst/>
          </a:prstGeom>
        </p:spPr>
        <p:txBody>
          <a:bodyPr anchor="t" rtlCol="false" tIns="0" lIns="0" bIns="0" rIns="0">
            <a:spAutoFit/>
          </a:bodyPr>
          <a:lstStyle/>
          <a:p>
            <a:pPr algn="l">
              <a:lnSpc>
                <a:spcPts val="3450"/>
              </a:lnSpc>
            </a:pPr>
            <a:r>
              <a:rPr lang="en-US" sz="2300">
                <a:solidFill>
                  <a:srgbClr val="2B2C30"/>
                </a:solidFill>
                <a:latin typeface="Public Sans"/>
                <a:ea typeface="Public Sans"/>
                <a:cs typeface="Public Sans"/>
                <a:sym typeface="Public Sans"/>
              </a:rPr>
              <a:t>150122058</a:t>
            </a:r>
          </a:p>
          <a:p>
            <a:pPr algn="l">
              <a:lnSpc>
                <a:spcPts val="3450"/>
              </a:lnSpc>
            </a:pPr>
            <a:r>
              <a:rPr lang="en-US" sz="2300">
                <a:solidFill>
                  <a:srgbClr val="2B2C30"/>
                </a:solidFill>
                <a:latin typeface="Public Sans"/>
                <a:ea typeface="Public Sans"/>
                <a:cs typeface="Public Sans"/>
                <a:sym typeface="Public Sans"/>
              </a:rPr>
              <a:t>150122016</a:t>
            </a:r>
          </a:p>
          <a:p>
            <a:pPr algn="l">
              <a:lnSpc>
                <a:spcPts val="3450"/>
              </a:lnSpc>
            </a:pPr>
            <a:r>
              <a:rPr lang="en-US" sz="2300">
                <a:solidFill>
                  <a:srgbClr val="2B2C30"/>
                </a:solidFill>
                <a:latin typeface="Public Sans"/>
                <a:ea typeface="Public Sans"/>
                <a:cs typeface="Public Sans"/>
                <a:sym typeface="Public Sans"/>
              </a:rPr>
              <a:t>150121016</a:t>
            </a:r>
          </a:p>
          <a:p>
            <a:pPr algn="l">
              <a:lnSpc>
                <a:spcPts val="3450"/>
              </a:lnSpc>
            </a:pPr>
            <a:r>
              <a:rPr lang="en-US" sz="2300">
                <a:solidFill>
                  <a:srgbClr val="2B2C30"/>
                </a:solidFill>
                <a:latin typeface="Public Sans"/>
                <a:ea typeface="Public Sans"/>
                <a:cs typeface="Public Sans"/>
                <a:sym typeface="Public Sans"/>
              </a:rPr>
              <a:t>150121037</a:t>
            </a:r>
          </a:p>
          <a:p>
            <a:pPr algn="l">
              <a:lnSpc>
                <a:spcPts val="3450"/>
              </a:lnSpc>
            </a:pPr>
            <a:r>
              <a:rPr lang="en-US" sz="2300">
                <a:solidFill>
                  <a:srgbClr val="2B2C30"/>
                </a:solidFill>
                <a:latin typeface="Public Sans"/>
                <a:ea typeface="Public Sans"/>
                <a:cs typeface="Public Sans"/>
                <a:sym typeface="Public Sans"/>
              </a:rPr>
              <a:t>150122063</a:t>
            </a:r>
          </a:p>
        </p:txBody>
      </p:sp>
    </p:spTree>
  </p:cSld>
  <p:clrMapOvr>
    <a:masterClrMapping/>
  </p:clrMapOvr>
</p:sld>
</file>

<file path=ppt/slides/slide2.xml><?xml version="1.0" encoding="utf-8"?>
<p:sld xmlns:p="http://schemas.openxmlformats.org/presentationml/2006/main" xmlns:a="http://schemas.openxmlformats.org/drawingml/2006/main">
  <p:cSld>
    <p:bg>
      <p:bgPr>
        <a:solidFill>
          <a:srgbClr val="EFEEE7"/>
        </a:solidFill>
      </p:bgPr>
    </p:bg>
    <p:spTree>
      <p:nvGrpSpPr>
        <p:cNvPr id="1" name=""/>
        <p:cNvGrpSpPr/>
        <p:nvPr/>
      </p:nvGrpSpPr>
      <p:grpSpPr>
        <a:xfrm>
          <a:off x="0" y="0"/>
          <a:ext cx="0" cy="0"/>
          <a:chOff x="0" y="0"/>
          <a:chExt cx="0" cy="0"/>
        </a:xfrm>
      </p:grpSpPr>
      <p:sp>
        <p:nvSpPr>
          <p:cNvPr name="TextBox 2" id="2"/>
          <p:cNvSpPr txBox="true"/>
          <p:nvPr/>
        </p:nvSpPr>
        <p:spPr>
          <a:xfrm rot="0">
            <a:off x="1028700" y="971550"/>
            <a:ext cx="14300367" cy="970910"/>
          </a:xfrm>
          <a:prstGeom prst="rect">
            <a:avLst/>
          </a:prstGeom>
        </p:spPr>
        <p:txBody>
          <a:bodyPr anchor="t" rtlCol="false" tIns="0" lIns="0" bIns="0" rIns="0">
            <a:spAutoFit/>
          </a:bodyPr>
          <a:lstStyle/>
          <a:p>
            <a:pPr algn="l">
              <a:lnSpc>
                <a:spcPts val="7865"/>
              </a:lnSpc>
            </a:pPr>
            <a:r>
              <a:rPr lang="en-US" sz="6050" spc="30">
                <a:solidFill>
                  <a:srgbClr val="2B2C30"/>
                </a:solidFill>
                <a:latin typeface="Playfair Display"/>
                <a:ea typeface="Playfair Display"/>
                <a:cs typeface="Playfair Display"/>
                <a:sym typeface="Playfair Display"/>
              </a:rPr>
              <a:t>Selected Model: Qwen-2.5-15B Instruct</a:t>
            </a:r>
          </a:p>
        </p:txBody>
      </p:sp>
      <p:sp>
        <p:nvSpPr>
          <p:cNvPr name="TextBox 3" id="3"/>
          <p:cNvSpPr txBox="true"/>
          <p:nvPr/>
        </p:nvSpPr>
        <p:spPr>
          <a:xfrm rot="0">
            <a:off x="1028700" y="2401626"/>
            <a:ext cx="15329067" cy="2415540"/>
          </a:xfrm>
          <a:prstGeom prst="rect">
            <a:avLst/>
          </a:prstGeom>
        </p:spPr>
        <p:txBody>
          <a:bodyPr anchor="t" rtlCol="false" tIns="0" lIns="0" bIns="0" rIns="0">
            <a:spAutoFit/>
          </a:bodyPr>
          <a:lstStyle/>
          <a:p>
            <a:pPr algn="l">
              <a:lnSpc>
                <a:spcPts val="3899"/>
              </a:lnSpc>
              <a:spcBef>
                <a:spcPct val="0"/>
              </a:spcBef>
            </a:pPr>
            <a:r>
              <a:rPr lang="en-US" sz="2599">
                <a:solidFill>
                  <a:srgbClr val="2B2C30"/>
                </a:solidFill>
                <a:latin typeface="Public Sans"/>
                <a:ea typeface="Public Sans"/>
                <a:cs typeface="Public Sans"/>
                <a:sym typeface="Public Sans"/>
              </a:rPr>
              <a:t>As a key member of the Qwen2.5 family, this model stands </a:t>
            </a:r>
            <a:r>
              <a:rPr lang="en-US" sz="2599">
                <a:solidFill>
                  <a:srgbClr val="2B2C30"/>
                </a:solidFill>
                <a:latin typeface="Public Sans"/>
                <a:ea typeface="Public Sans"/>
                <a:cs typeface="Public Sans"/>
                <a:sym typeface="Public Sans"/>
              </a:rPr>
              <a:t>out due to its advanced architecture developed across a wide scale of parameters (0.5B to 72B). We selected this model primarily for its significant improvements in pre-training and post-training stages, which enhance its instruction-following capabilities. Its proven performance in the 1.5B range makes it a robust candidate for efficient fine-tuning and baseline comparison.</a:t>
            </a:r>
          </a:p>
        </p:txBody>
      </p:sp>
    </p:spTree>
  </p:cSld>
  <p:clrMapOvr>
    <a:masterClrMapping/>
  </p:clrMapOvr>
</p:sld>
</file>

<file path=ppt/slides/slide3.xml><?xml version="1.0" encoding="utf-8"?>
<p:sld xmlns:p="http://schemas.openxmlformats.org/presentationml/2006/main" xmlns:a="http://schemas.openxmlformats.org/drawingml/2006/main">
  <p:cSld>
    <p:bg>
      <p:bgPr>
        <a:solidFill>
          <a:srgbClr val="EFEEE7"/>
        </a:solidFill>
      </p:bgPr>
    </p:bg>
    <p:spTree>
      <p:nvGrpSpPr>
        <p:cNvPr id="1" name=""/>
        <p:cNvGrpSpPr/>
        <p:nvPr/>
      </p:nvGrpSpPr>
      <p:grpSpPr>
        <a:xfrm>
          <a:off x="0" y="0"/>
          <a:ext cx="0" cy="0"/>
          <a:chOff x="0" y="0"/>
          <a:chExt cx="0" cy="0"/>
        </a:xfrm>
      </p:grpSpPr>
      <p:sp>
        <p:nvSpPr>
          <p:cNvPr name="TextBox 2" id="2"/>
          <p:cNvSpPr txBox="true"/>
          <p:nvPr/>
        </p:nvSpPr>
        <p:spPr>
          <a:xfrm rot="0">
            <a:off x="1028700" y="971550"/>
            <a:ext cx="14300367" cy="970910"/>
          </a:xfrm>
          <a:prstGeom prst="rect">
            <a:avLst/>
          </a:prstGeom>
        </p:spPr>
        <p:txBody>
          <a:bodyPr anchor="t" rtlCol="false" tIns="0" lIns="0" bIns="0" rIns="0">
            <a:spAutoFit/>
          </a:bodyPr>
          <a:lstStyle/>
          <a:p>
            <a:pPr algn="l">
              <a:lnSpc>
                <a:spcPts val="7865"/>
              </a:lnSpc>
            </a:pPr>
            <a:r>
              <a:rPr lang="en-US" sz="6050" spc="30">
                <a:solidFill>
                  <a:srgbClr val="2B2C30"/>
                </a:solidFill>
                <a:latin typeface="Playfair Display"/>
                <a:ea typeface="Playfair Display"/>
                <a:cs typeface="Playfair Display"/>
                <a:sym typeface="Playfair Display"/>
              </a:rPr>
              <a:t>Selected Model: Llama-3.2-1B-Instruct</a:t>
            </a:r>
          </a:p>
        </p:txBody>
      </p:sp>
      <p:sp>
        <p:nvSpPr>
          <p:cNvPr name="TextBox 3" id="3"/>
          <p:cNvSpPr txBox="true"/>
          <p:nvPr/>
        </p:nvSpPr>
        <p:spPr>
          <a:xfrm rot="0">
            <a:off x="1028700" y="2364381"/>
            <a:ext cx="14566667" cy="2415540"/>
          </a:xfrm>
          <a:prstGeom prst="rect">
            <a:avLst/>
          </a:prstGeom>
        </p:spPr>
        <p:txBody>
          <a:bodyPr anchor="t" rtlCol="false" tIns="0" lIns="0" bIns="0" rIns="0">
            <a:spAutoFit/>
          </a:bodyPr>
          <a:lstStyle/>
          <a:p>
            <a:pPr algn="l">
              <a:lnSpc>
                <a:spcPts val="3899"/>
              </a:lnSpc>
              <a:spcBef>
                <a:spcPct val="0"/>
              </a:spcBef>
            </a:pPr>
            <a:r>
              <a:rPr lang="en-US" sz="2599">
                <a:solidFill>
                  <a:srgbClr val="2B2C30"/>
                </a:solidFill>
                <a:latin typeface="Public Sans"/>
                <a:ea typeface="Public Sans"/>
                <a:cs typeface="Public Sans"/>
                <a:sym typeface="Public Sans"/>
              </a:rPr>
              <a:t>Devel</a:t>
            </a:r>
            <a:r>
              <a:rPr lang="en-US" sz="2599">
                <a:solidFill>
                  <a:srgbClr val="2B2C30"/>
                </a:solidFill>
                <a:latin typeface="Public Sans"/>
                <a:ea typeface="Public Sans"/>
                <a:cs typeface="Public Sans"/>
                <a:sym typeface="Public Sans"/>
              </a:rPr>
              <a:t>oped by Meta, Llama-3.2-1B was chosen for its specialized focus on multilingual support and high efficiency in small-scale models. Being part of a world-class model family, it provides a standardized benchmark for instruction-tuned performance. Including this model allows for a diverse comparative analysis, as it offers a different architectural approach than the Qwen family while maintaining a similar parameter footprint.</a:t>
            </a:r>
          </a:p>
        </p:txBody>
      </p:sp>
    </p:spTree>
  </p:cSld>
  <p:clrMapOvr>
    <a:masterClrMapping/>
  </p:clrMapOvr>
</p:sld>
</file>

<file path=ppt/slides/slide4.xml><?xml version="1.0" encoding="utf-8"?>
<p:sld xmlns:p="http://schemas.openxmlformats.org/presentationml/2006/main" xmlns:a="http://schemas.openxmlformats.org/drawingml/2006/main">
  <p:cSld>
    <p:bg>
      <p:bgPr>
        <a:solidFill>
          <a:srgbClr val="EFEEE7"/>
        </a:solidFill>
      </p:bgPr>
    </p:bg>
    <p:spTree>
      <p:nvGrpSpPr>
        <p:cNvPr id="1" name=""/>
        <p:cNvGrpSpPr/>
        <p:nvPr/>
      </p:nvGrpSpPr>
      <p:grpSpPr>
        <a:xfrm>
          <a:off x="0" y="0"/>
          <a:ext cx="0" cy="0"/>
          <a:chOff x="0" y="0"/>
          <a:chExt cx="0" cy="0"/>
        </a:xfrm>
      </p:grpSpPr>
      <p:sp>
        <p:nvSpPr>
          <p:cNvPr name="TextBox 2" id="2"/>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Bold"/>
                <a:ea typeface="Public Sans Bold"/>
                <a:cs typeface="Public Sans Bold"/>
                <a:sym typeface="Public Sans Bold"/>
              </a:rPr>
              <a:t>DATASET</a:t>
            </a:r>
          </a:p>
        </p:txBody>
      </p:sp>
      <p:sp>
        <p:nvSpPr>
          <p:cNvPr name="AutoShape 3" id="3"/>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TextBox 4" id="4"/>
          <p:cNvSpPr txBox="true"/>
          <p:nvPr/>
        </p:nvSpPr>
        <p:spPr>
          <a:xfrm rot="0">
            <a:off x="771525" y="2808736"/>
            <a:ext cx="16744950" cy="2901315"/>
          </a:xfrm>
          <a:prstGeom prst="rect">
            <a:avLst/>
          </a:prstGeom>
        </p:spPr>
        <p:txBody>
          <a:bodyPr anchor="t" rtlCol="false" tIns="0" lIns="0" bIns="0" rIns="0">
            <a:spAutoFit/>
          </a:bodyPr>
          <a:lstStyle/>
          <a:p>
            <a:pPr algn="l" marL="0" indent="0" lvl="0">
              <a:lnSpc>
                <a:spcPts val="3899"/>
              </a:lnSpc>
              <a:spcBef>
                <a:spcPct val="0"/>
              </a:spcBef>
            </a:pPr>
            <a:r>
              <a:rPr lang="en-US" sz="2599" strike="noStrike" u="none">
                <a:solidFill>
                  <a:srgbClr val="2B2C30"/>
                </a:solidFill>
                <a:latin typeface="Public Sans"/>
                <a:ea typeface="Public Sans"/>
                <a:cs typeface="Public Sans"/>
                <a:sym typeface="Public Sans"/>
              </a:rPr>
              <a:t>The Renicames/turkish-law-chatbot dataset is a specialized corpus designed for Supervised Fine-Tuning (SFT) within the legal domain. It consists of question-and-answer pairs focused on the Turkish legal system, providing the necessary linguistic and contextual nuances required for a chatbot to interpret and respond to legal inquiries accurately. By utilizing this dataset, models can bridge the gap between general language understanding and the technical terminology inherent in Turkish laws, making it an essential resource for developing domain-specific AI assistants.</a:t>
            </a:r>
          </a:p>
        </p:txBody>
      </p:sp>
      <p:sp>
        <p:nvSpPr>
          <p:cNvPr name="TextBox 5" id="5"/>
          <p:cNvSpPr txBox="true"/>
          <p:nvPr/>
        </p:nvSpPr>
        <p:spPr>
          <a:xfrm rot="0">
            <a:off x="1028700" y="7100683"/>
            <a:ext cx="16744950" cy="527685"/>
          </a:xfrm>
          <a:prstGeom prst="rect">
            <a:avLst/>
          </a:prstGeom>
        </p:spPr>
        <p:txBody>
          <a:bodyPr anchor="t" rtlCol="false" tIns="0" lIns="0" bIns="0" rIns="0">
            <a:spAutoFit/>
          </a:bodyPr>
          <a:lstStyle/>
          <a:p>
            <a:pPr algn="ctr" marL="0" indent="0" lvl="0">
              <a:lnSpc>
                <a:spcPts val="4349"/>
              </a:lnSpc>
              <a:spcBef>
                <a:spcPct val="0"/>
              </a:spcBef>
            </a:pPr>
            <a:r>
              <a:rPr lang="en-US" b="true" sz="2899">
                <a:solidFill>
                  <a:srgbClr val="2B2C30"/>
                </a:solidFill>
                <a:latin typeface="Public Sans Bold"/>
                <a:ea typeface="Public Sans Bold"/>
                <a:cs typeface="Public Sans Bold"/>
                <a:sym typeface="Public Sans Bold"/>
              </a:rPr>
              <a:t>13.4K Question-Answer Pair About Turkish Jurisprudence</a:t>
            </a:r>
          </a:p>
        </p:txBody>
      </p:sp>
    </p:spTree>
  </p:cSld>
  <p:clrMapOvr>
    <a:masterClrMapping/>
  </p:clrMapOvr>
</p:sld>
</file>

<file path=ppt/slides/slide5.xml><?xml version="1.0" encoding="utf-8"?>
<p:sld xmlns:p="http://schemas.openxmlformats.org/presentationml/2006/main" xmlns:a="http://schemas.openxmlformats.org/drawingml/2006/main">
  <p:cSld>
    <p:bg>
      <p:bgPr>
        <a:solidFill>
          <a:srgbClr val="EFEEE7"/>
        </a:solidFill>
      </p:bgPr>
    </p:bg>
    <p:spTree>
      <p:nvGrpSpPr>
        <p:cNvPr id="1" name=""/>
        <p:cNvGrpSpPr/>
        <p:nvPr/>
      </p:nvGrpSpPr>
      <p:grpSpPr>
        <a:xfrm>
          <a:off x="0" y="0"/>
          <a:ext cx="0" cy="0"/>
          <a:chOff x="0" y="0"/>
          <a:chExt cx="0" cy="0"/>
        </a:xfrm>
      </p:grpSpPr>
      <p:sp>
        <p:nvSpPr>
          <p:cNvPr name="TextBox 2" id="2"/>
          <p:cNvSpPr txBox="true"/>
          <p:nvPr/>
        </p:nvSpPr>
        <p:spPr>
          <a:xfrm rot="0">
            <a:off x="696317" y="2789905"/>
            <a:ext cx="16851708" cy="3302514"/>
          </a:xfrm>
          <a:prstGeom prst="rect">
            <a:avLst/>
          </a:prstGeom>
        </p:spPr>
        <p:txBody>
          <a:bodyPr anchor="t" rtlCol="false" tIns="0" lIns="0" bIns="0" rIns="0">
            <a:spAutoFit/>
          </a:bodyPr>
          <a:lstStyle/>
          <a:p>
            <a:pPr algn="l">
              <a:lnSpc>
                <a:spcPts val="3776"/>
              </a:lnSpc>
            </a:pPr>
            <a:r>
              <a:rPr lang="en-US" sz="2904" spc="14">
                <a:solidFill>
                  <a:srgbClr val="2B2C30"/>
                </a:solidFill>
                <a:latin typeface="Playfair Display"/>
                <a:ea typeface="Playfair Display"/>
                <a:cs typeface="Playfair Display"/>
                <a:sym typeface="Playfair Display"/>
              </a:rPr>
              <a:t>We used ROUGE-1, ROUGE-2, and ROUGE-L to measure lexical overlap between</a:t>
            </a:r>
          </a:p>
          <a:p>
            <a:pPr algn="l">
              <a:lnSpc>
                <a:spcPts val="3776"/>
              </a:lnSpc>
            </a:pPr>
            <a:r>
              <a:rPr lang="en-US" sz="2904" spc="14">
                <a:solidFill>
                  <a:srgbClr val="2B2C30"/>
                </a:solidFill>
                <a:latin typeface="Playfair Display"/>
                <a:ea typeface="Playfair Display"/>
                <a:cs typeface="Playfair Display"/>
                <a:sym typeface="Playfair Display"/>
              </a:rPr>
              <a:t>generated and reference answers. In addition, Exact Match and Token F1 were used as answer-level and word-level comparison metrics. Since legal answers may be correct even when phrased differently, the automatic metrics were supported with manual inspection for hallucinations, incomplete answers, and legally inaccurate statements. The models were loaded using the Hugging Face Transformers library, and the</a:t>
            </a:r>
          </a:p>
          <a:p>
            <a:pPr algn="l">
              <a:lnSpc>
                <a:spcPts val="3776"/>
              </a:lnSpc>
            </a:pPr>
            <a:r>
              <a:rPr lang="en-US" sz="2904" spc="14">
                <a:solidFill>
                  <a:srgbClr val="2B2C30"/>
                </a:solidFill>
                <a:latin typeface="Playfair Display"/>
                <a:ea typeface="Playfair Display"/>
                <a:cs typeface="Playfair Display"/>
                <a:sym typeface="Playfair Display"/>
              </a:rPr>
              <a:t>dataset was accessed using the Hugging Face Datasets library.</a:t>
            </a:r>
          </a:p>
        </p:txBody>
      </p:sp>
      <p:sp>
        <p:nvSpPr>
          <p:cNvPr name="TextBox 3" id="3"/>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Bold"/>
                <a:ea typeface="Public Sans Bold"/>
                <a:cs typeface="Public Sans Bold"/>
                <a:sym typeface="Public Sans Bold"/>
              </a:rPr>
              <a:t>EVALUATION SETUP</a:t>
            </a:r>
          </a:p>
        </p:txBody>
      </p:sp>
      <p:sp>
        <p:nvSpPr>
          <p:cNvPr name="AutoShape 4" id="4"/>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Freeform 3" id="3"/>
          <p:cNvSpPr/>
          <p:nvPr/>
        </p:nvSpPr>
        <p:spPr>
          <a:xfrm flipH="false" flipV="false" rot="0">
            <a:off x="1654091" y="2371472"/>
            <a:ext cx="14598528" cy="2299268"/>
          </a:xfrm>
          <a:custGeom>
            <a:avLst/>
            <a:gdLst/>
            <a:ahLst/>
            <a:cxnLst/>
            <a:rect r="r" b="b" t="t" l="l"/>
            <a:pathLst>
              <a:path h="2299268" w="14598528">
                <a:moveTo>
                  <a:pt x="0" y="0"/>
                </a:moveTo>
                <a:lnTo>
                  <a:pt x="14598528" y="0"/>
                </a:lnTo>
                <a:lnTo>
                  <a:pt x="14598528" y="2299269"/>
                </a:lnTo>
                <a:lnTo>
                  <a:pt x="0" y="2299269"/>
                </a:lnTo>
                <a:lnTo>
                  <a:pt x="0" y="0"/>
                </a:lnTo>
                <a:close/>
              </a:path>
            </a:pathLst>
          </a:custGeom>
          <a:blipFill>
            <a:blip r:embed="rId2"/>
            <a:stretch>
              <a:fillRect l="0" t="0" r="0" b="0"/>
            </a:stretch>
          </a:blipFill>
        </p:spPr>
      </p:sp>
      <p:sp>
        <p:nvSpPr>
          <p:cNvPr name="Freeform 4" id="4"/>
          <p:cNvSpPr/>
          <p:nvPr/>
        </p:nvSpPr>
        <p:spPr>
          <a:xfrm flipH="false" flipV="false" rot="0">
            <a:off x="1654091" y="5451791"/>
            <a:ext cx="14598528" cy="1973614"/>
          </a:xfrm>
          <a:custGeom>
            <a:avLst/>
            <a:gdLst/>
            <a:ahLst/>
            <a:cxnLst/>
            <a:rect r="r" b="b" t="t" l="l"/>
            <a:pathLst>
              <a:path h="1973614" w="14598528">
                <a:moveTo>
                  <a:pt x="0" y="0"/>
                </a:moveTo>
                <a:lnTo>
                  <a:pt x="14598528" y="0"/>
                </a:lnTo>
                <a:lnTo>
                  <a:pt x="14598528" y="1973613"/>
                </a:lnTo>
                <a:lnTo>
                  <a:pt x="0" y="1973613"/>
                </a:lnTo>
                <a:lnTo>
                  <a:pt x="0" y="0"/>
                </a:lnTo>
                <a:close/>
              </a:path>
            </a:pathLst>
          </a:custGeom>
          <a:blipFill>
            <a:blip r:embed="rId3"/>
            <a:stretch>
              <a:fillRect l="-2103" t="-12730" r="-2103" b="0"/>
            </a:stretch>
          </a:blipFill>
        </p:spPr>
      </p:sp>
      <p:sp>
        <p:nvSpPr>
          <p:cNvPr name="TextBox 5" id="5"/>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Bold"/>
                <a:ea typeface="Public Sans Bold"/>
                <a:cs typeface="Public Sans Bold"/>
                <a:sym typeface="Public Sans Bold"/>
              </a:rPr>
              <a:t>EVALUATION RESULTS</a:t>
            </a:r>
          </a:p>
        </p:txBody>
      </p:sp>
    </p:spTree>
  </p:cSld>
  <p:clrMapOvr>
    <a:masterClrMapping/>
  </p:clrMapOvr>
</p:sld>
</file>

<file path=ppt/slides/slide7.xml><?xml version="1.0" encoding="utf-8"?>
<p:sld xmlns:p="http://schemas.openxmlformats.org/presentationml/2006/main" xmlns:a="http://schemas.openxmlformats.org/drawingml/2006/main">
  <p:cSld>
    <p:bg>
      <p:bgPr>
        <a:solidFill>
          <a:srgbClr val="EFEEE7"/>
        </a:solidFill>
      </p:bgPr>
    </p:bg>
    <p:spTree>
      <p:nvGrpSpPr>
        <p:cNvPr id="1" name=""/>
        <p:cNvGrpSpPr/>
        <p:nvPr/>
      </p:nvGrpSpPr>
      <p:grpSpPr>
        <a:xfrm>
          <a:off x="0" y="0"/>
          <a:ext cx="0" cy="0"/>
          <a:chOff x="0" y="0"/>
          <a:chExt cx="0" cy="0"/>
        </a:xfrm>
      </p:grpSpPr>
      <p:sp>
        <p:nvSpPr>
          <p:cNvPr name="TextBox 2" id="2"/>
          <p:cNvSpPr txBox="true"/>
          <p:nvPr/>
        </p:nvSpPr>
        <p:spPr>
          <a:xfrm rot="0">
            <a:off x="1028700" y="971550"/>
            <a:ext cx="14300367" cy="970910"/>
          </a:xfrm>
          <a:prstGeom prst="rect">
            <a:avLst/>
          </a:prstGeom>
        </p:spPr>
        <p:txBody>
          <a:bodyPr anchor="t" rtlCol="false" tIns="0" lIns="0" bIns="0" rIns="0">
            <a:spAutoFit/>
          </a:bodyPr>
          <a:lstStyle/>
          <a:p>
            <a:pPr algn="l">
              <a:lnSpc>
                <a:spcPts val="7865"/>
              </a:lnSpc>
            </a:pPr>
            <a:r>
              <a:rPr lang="en-US" sz="6050" spc="30">
                <a:solidFill>
                  <a:srgbClr val="2B2C30"/>
                </a:solidFill>
                <a:latin typeface="Playfair Display"/>
                <a:ea typeface="Playfair Display"/>
                <a:cs typeface="Playfair Display"/>
                <a:sym typeface="Playfair Display"/>
              </a:rPr>
              <a:t>Selected Model For Finetuning</a:t>
            </a:r>
          </a:p>
        </p:txBody>
      </p:sp>
      <p:sp>
        <p:nvSpPr>
          <p:cNvPr name="TextBox 3" id="3"/>
          <p:cNvSpPr txBox="true"/>
          <p:nvPr/>
        </p:nvSpPr>
        <p:spPr>
          <a:xfrm rot="0">
            <a:off x="299418" y="2780093"/>
            <a:ext cx="17667778" cy="4316032"/>
          </a:xfrm>
          <a:prstGeom prst="rect">
            <a:avLst/>
          </a:prstGeom>
        </p:spPr>
        <p:txBody>
          <a:bodyPr anchor="t" rtlCol="false" tIns="0" lIns="0" bIns="0" rIns="0">
            <a:spAutoFit/>
          </a:bodyPr>
          <a:lstStyle/>
          <a:p>
            <a:pPr algn="l" marL="0" indent="0" lvl="0">
              <a:lnSpc>
                <a:spcPts val="3776"/>
              </a:lnSpc>
              <a:spcBef>
                <a:spcPct val="0"/>
              </a:spcBef>
            </a:pPr>
            <a:r>
              <a:rPr lang="en-US" sz="2904" spc="14" strike="noStrike" u="none">
                <a:solidFill>
                  <a:srgbClr val="2B2C30"/>
                </a:solidFill>
                <a:latin typeface="Playfair Display"/>
                <a:ea typeface="Playfair Display"/>
                <a:cs typeface="Playfair Display"/>
                <a:sym typeface="Playfair Display"/>
              </a:rPr>
              <a:t>Based on the baseline results, we selected:</a:t>
            </a:r>
          </a:p>
          <a:p>
            <a:pPr algn="l" marL="0" indent="0" lvl="0">
              <a:lnSpc>
                <a:spcPts val="3776"/>
              </a:lnSpc>
              <a:spcBef>
                <a:spcPct val="0"/>
              </a:spcBef>
            </a:pPr>
          </a:p>
          <a:p>
            <a:pPr algn="l" marL="0" indent="0" lvl="0">
              <a:lnSpc>
                <a:spcPts val="4166"/>
              </a:lnSpc>
              <a:spcBef>
                <a:spcPct val="0"/>
              </a:spcBef>
            </a:pPr>
            <a:r>
              <a:rPr lang="en-US" sz="3204" spc="16" strike="noStrike" u="none">
                <a:solidFill>
                  <a:srgbClr val="2B2C30"/>
                </a:solidFill>
                <a:latin typeface="Playfair Display"/>
                <a:ea typeface="Playfair Display"/>
                <a:cs typeface="Playfair Display"/>
                <a:sym typeface="Playfair Display"/>
              </a:rPr>
              <a:t> </a:t>
            </a:r>
            <a:r>
              <a:rPr lang="en-US" b="true" sz="3204" spc="16" strike="noStrike" u="none">
                <a:solidFill>
                  <a:srgbClr val="2B2C30"/>
                </a:solidFill>
                <a:latin typeface="Playfair Display Bold"/>
                <a:ea typeface="Playfair Display Bold"/>
                <a:cs typeface="Playfair Display Bold"/>
                <a:sym typeface="Playfair Display Bold"/>
              </a:rPr>
              <a:t>Qwen/Qwen2.5-1.5B-Instruct</a:t>
            </a:r>
          </a:p>
          <a:p>
            <a:pPr algn="l" marL="0" indent="0" lvl="0">
              <a:lnSpc>
                <a:spcPts val="3776"/>
              </a:lnSpc>
              <a:spcBef>
                <a:spcPct val="0"/>
              </a:spcBef>
            </a:pPr>
          </a:p>
          <a:p>
            <a:pPr algn="l" marL="0" indent="0" lvl="0">
              <a:lnSpc>
                <a:spcPts val="3776"/>
              </a:lnSpc>
              <a:spcBef>
                <a:spcPct val="0"/>
              </a:spcBef>
            </a:pPr>
          </a:p>
          <a:p>
            <a:pPr algn="l" marL="0" indent="0" lvl="0">
              <a:lnSpc>
                <a:spcPts val="3776"/>
              </a:lnSpc>
              <a:spcBef>
                <a:spcPct val="0"/>
              </a:spcBef>
            </a:pPr>
            <a:r>
              <a:rPr lang="en-US" sz="2904" spc="14" strike="noStrike" u="none">
                <a:solidFill>
                  <a:srgbClr val="2B2C30"/>
                </a:solidFill>
                <a:latin typeface="Playfair Display"/>
                <a:ea typeface="Playfair Display"/>
                <a:cs typeface="Playfair Display"/>
                <a:sym typeface="Playfair Display"/>
              </a:rPr>
              <a:t>Qwen was selected because it achieved better ROUGE and Token F1 scores than</a:t>
            </a:r>
          </a:p>
          <a:p>
            <a:pPr algn="l" marL="0" indent="0" lvl="0">
              <a:lnSpc>
                <a:spcPts val="3776"/>
              </a:lnSpc>
              <a:spcBef>
                <a:spcPct val="0"/>
              </a:spcBef>
            </a:pPr>
            <a:r>
              <a:rPr lang="en-US" sz="2904" spc="14" strike="noStrike" u="none">
                <a:solidFill>
                  <a:srgbClr val="2B2C30"/>
                </a:solidFill>
                <a:latin typeface="Playfair Display"/>
                <a:ea typeface="Playfair Display"/>
                <a:cs typeface="Playfair Display"/>
                <a:sym typeface="Playfair Display"/>
              </a:rPr>
              <a:t>Llama and produced more usable Turkish answers. It is also small enough for parameterefficient fine-tuning. We plan to use QLoRA, which combines quantized model weights with LoRA-style adaptation and is suitable for limited GPU memory environments.</a:t>
            </a:r>
          </a:p>
        </p:txBody>
      </p:sp>
    </p:spTree>
  </p:cSld>
  <p:clrMapOvr>
    <a:masterClrMapping/>
  </p:clrMapOvr>
</p:sld>
</file>

<file path=ppt/slides/slide8.xml><?xml version="1.0" encoding="utf-8"?>
<p:sld xmlns:p="http://schemas.openxmlformats.org/presentationml/2006/main" xmlns:a="http://schemas.openxmlformats.org/drawingml/2006/main">
  <p:cSld>
    <p:bg>
      <p:bgPr>
        <a:solidFill>
          <a:srgbClr val="EFEEE7"/>
        </a:solidFill>
      </p:bgPr>
    </p:bg>
    <p:spTree>
      <p:nvGrpSpPr>
        <p:cNvPr id="1" name=""/>
        <p:cNvGrpSpPr/>
        <p:nvPr/>
      </p:nvGrpSpPr>
      <p:grpSpPr>
        <a:xfrm>
          <a:off x="0" y="0"/>
          <a:ext cx="0" cy="0"/>
          <a:chOff x="0" y="0"/>
          <a:chExt cx="0" cy="0"/>
        </a:xfrm>
      </p:grpSpPr>
      <p:sp>
        <p:nvSpPr>
          <p:cNvPr name="AutoShape 2" id="2"/>
          <p:cNvSpPr/>
          <p:nvPr/>
        </p:nvSpPr>
        <p:spPr>
          <a:xfrm flipV="true">
            <a:off x="1028695" y="1760761"/>
            <a:ext cx="16230594" cy="38509"/>
          </a:xfrm>
          <a:prstGeom prst="line">
            <a:avLst/>
          </a:prstGeom>
          <a:ln cap="flat" w="9525">
            <a:solidFill>
              <a:srgbClr val="2B2C30"/>
            </a:solidFill>
            <a:prstDash val="solid"/>
            <a:headEnd type="none" len="sm" w="sm"/>
            <a:tailEnd type="none" len="sm" w="sm"/>
          </a:ln>
        </p:spPr>
      </p:sp>
      <p:sp>
        <p:nvSpPr>
          <p:cNvPr name="TextBox 3" id="3"/>
          <p:cNvSpPr txBox="true"/>
          <p:nvPr/>
        </p:nvSpPr>
        <p:spPr>
          <a:xfrm rot="0">
            <a:off x="1006871" y="942975"/>
            <a:ext cx="16230600" cy="651099"/>
          </a:xfrm>
          <a:prstGeom prst="rect">
            <a:avLst/>
          </a:prstGeom>
        </p:spPr>
        <p:txBody>
          <a:bodyPr anchor="t" rtlCol="false" tIns="0" lIns="0" bIns="0" rIns="0">
            <a:spAutoFit/>
          </a:bodyPr>
          <a:lstStyle/>
          <a:p>
            <a:pPr algn="l">
              <a:lnSpc>
                <a:spcPts val="5200"/>
              </a:lnSpc>
              <a:spcBef>
                <a:spcPct val="0"/>
              </a:spcBef>
            </a:pPr>
            <a:r>
              <a:rPr lang="en-US" b="true" sz="3714" spc="843">
                <a:solidFill>
                  <a:srgbClr val="2B2C30"/>
                </a:solidFill>
                <a:latin typeface="Public Sans Bold"/>
                <a:ea typeface="Public Sans Bold"/>
                <a:cs typeface="Public Sans Bold"/>
                <a:sym typeface="Public Sans Bold"/>
              </a:rPr>
              <a:t>FINE-TUNING PLAN</a:t>
            </a:r>
          </a:p>
        </p:txBody>
      </p:sp>
      <p:sp>
        <p:nvSpPr>
          <p:cNvPr name="TextBox 4" id="4"/>
          <p:cNvSpPr txBox="true"/>
          <p:nvPr/>
        </p:nvSpPr>
        <p:spPr>
          <a:xfrm rot="0">
            <a:off x="1028700" y="2180536"/>
            <a:ext cx="11471184" cy="4385310"/>
          </a:xfrm>
          <a:prstGeom prst="rect">
            <a:avLst/>
          </a:prstGeom>
        </p:spPr>
        <p:txBody>
          <a:bodyPr anchor="t" rtlCol="false" tIns="0" lIns="0" bIns="0" rIns="0">
            <a:spAutoFit/>
          </a:bodyPr>
          <a:lstStyle/>
          <a:p>
            <a:pPr algn="l" marL="604519" indent="-302260" lvl="1">
              <a:lnSpc>
                <a:spcPts val="5879"/>
              </a:lnSpc>
              <a:buAutoNum type="arabicPeriod" startAt="1"/>
            </a:pPr>
            <a:r>
              <a:rPr lang="en-US" b="true" sz="2799">
                <a:solidFill>
                  <a:srgbClr val="2B2C30"/>
                </a:solidFill>
                <a:latin typeface="Public Sans Bold"/>
                <a:ea typeface="Public Sans Bold"/>
                <a:cs typeface="Public Sans Bold"/>
                <a:sym typeface="Public Sans Bold"/>
              </a:rPr>
              <a:t>Preprocess the SFT corpus. </a:t>
            </a:r>
          </a:p>
          <a:p>
            <a:pPr algn="l" marL="604519" indent="-302260" lvl="1">
              <a:lnSpc>
                <a:spcPts val="5879"/>
              </a:lnSpc>
              <a:buAutoNum type="arabicPeriod" startAt="1"/>
            </a:pPr>
            <a:r>
              <a:rPr lang="en-US" b="true" sz="2799">
                <a:solidFill>
                  <a:srgbClr val="2B2C30"/>
                </a:solidFill>
                <a:latin typeface="Public Sans Bold"/>
                <a:ea typeface="Public Sans Bold"/>
                <a:cs typeface="Public Sans Bold"/>
                <a:sym typeface="Public Sans Bold"/>
              </a:rPr>
              <a:t>Split the training data into training and validation subsets. </a:t>
            </a:r>
          </a:p>
          <a:p>
            <a:pPr algn="l" marL="604519" indent="-302260" lvl="1">
              <a:lnSpc>
                <a:spcPts val="5879"/>
              </a:lnSpc>
              <a:buAutoNum type="arabicPeriod" startAt="1"/>
            </a:pPr>
            <a:r>
              <a:rPr lang="en-US" b="true" sz="2799">
                <a:solidFill>
                  <a:srgbClr val="2B2C30"/>
                </a:solidFill>
                <a:latin typeface="Public Sans Bold"/>
                <a:ea typeface="Public Sans Bold"/>
                <a:cs typeface="Public Sans Bold"/>
                <a:sym typeface="Public Sans Bold"/>
              </a:rPr>
              <a:t>Fine-tune Qwen using QLoRA. </a:t>
            </a:r>
          </a:p>
          <a:p>
            <a:pPr algn="l" marL="604519" indent="-302260" lvl="1">
              <a:lnSpc>
                <a:spcPts val="5879"/>
              </a:lnSpc>
              <a:buAutoNum type="arabicPeriod" startAt="1"/>
            </a:pPr>
            <a:r>
              <a:rPr lang="en-US" b="true" sz="2799">
                <a:solidFill>
                  <a:srgbClr val="2B2C30"/>
                </a:solidFill>
                <a:latin typeface="Public Sans Bold"/>
                <a:ea typeface="Public Sans Bold"/>
                <a:cs typeface="Public Sans Bold"/>
                <a:sym typeface="Public Sans Bold"/>
              </a:rPr>
              <a:t>Re-evaluate the fine-tuned model on the same evaluation set. </a:t>
            </a:r>
          </a:p>
          <a:p>
            <a:pPr algn="l" marL="604519" indent="-302260" lvl="1">
              <a:lnSpc>
                <a:spcPts val="5879"/>
              </a:lnSpc>
              <a:buAutoNum type="arabicPeriod" startAt="1"/>
            </a:pPr>
            <a:r>
              <a:rPr lang="en-US" b="true" sz="2799">
                <a:solidFill>
                  <a:srgbClr val="2B2C30"/>
                </a:solidFill>
                <a:latin typeface="Public Sans Bold"/>
                <a:ea typeface="Public Sans Bold"/>
                <a:cs typeface="Public Sans Bold"/>
                <a:sym typeface="Public Sans Bold"/>
              </a:rPr>
              <a:t>Compare baseline and fine-tuned results.</a:t>
            </a:r>
          </a:p>
          <a:p>
            <a:pPr algn="l" marL="604519" indent="-302260" lvl="1">
              <a:lnSpc>
                <a:spcPts val="5879"/>
              </a:lnSpc>
              <a:buAutoNum type="arabicPeriod" startAt="1"/>
            </a:pPr>
            <a:r>
              <a:rPr lang="en-US" b="true" sz="2799">
                <a:solidFill>
                  <a:srgbClr val="2B2C30"/>
                </a:solidFill>
                <a:latin typeface="Public Sans Bold"/>
                <a:ea typeface="Public Sans Bold"/>
                <a:cs typeface="Public Sans Bold"/>
                <a:sym typeface="Public Sans Bold"/>
              </a:rPr>
              <a:t>Analyze remaining error patterns.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DAHJSFzqg4A</dc:identifier>
  <dcterms:modified xsi:type="dcterms:W3CDTF">2011-08-01T06:04:30Z</dcterms:modified>
  <cp:revision>1</cp:revision>
  <dc:title>Cream Neutral Minimalist New Business Pitch Deck Presentation</dc:title>
</cp:coreProperties>
</file>